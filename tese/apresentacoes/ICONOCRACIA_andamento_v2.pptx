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228600"/>
            <a:ext cx="2240280" cy="2240280"/>
          </a:xfrm>
          <a:prstGeom prst="ellipse">
            <a:avLst/>
          </a:prstGeom>
          <a:ln w="12700">
            <a:solidFill>
              <a:srgbClr val="C4973F">
                <a:alpha val="5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960120"/>
            <a:ext cx="1417320" cy="1417320"/>
          </a:xfrm>
          <a:prstGeom prst="ellipse">
            <a:avLst/>
          </a:prstGeom>
          <a:ln w="7620">
            <a:solidFill>
              <a:srgbClr val="F5EDD8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399032"/>
            <a:ext cx="2331720" cy="20117"/>
          </a:xfrm>
          <a:prstGeom prst="rect">
            <a:avLst/>
          </a:prstGeom>
          <a:solidFill>
            <a:srgbClr val="C4973F">
              <a:alpha val="45000"/>
            </a:srgbClr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66928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ICONOCRACIA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Alegoria Feminina na História da Cultura Jurídica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Séculos XIX–XX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4048" y="2706624"/>
            <a:ext cx="2926080" cy="34747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Orientação · PPGD/UFSC · Março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2552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Prof. Dr. Arno Dal Ri Júnior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Vanzin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2926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QUESTÃO CENTRAL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676656"/>
            <a:ext cx="3108960" cy="25603"/>
          </a:xfrm>
          <a:prstGeom prst="rect">
            <a:avLst/>
          </a:prstGeom>
          <a:solidFill>
            <a:srgbClr val="C4973F">
              <a:alpha val="45000"/>
            </a:srgbClr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04672"/>
            <a:ext cx="34015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alegoria feminina da Justiça operou como tecnologia de poder na cultura jurídica ocidental, e de que modo esse regime visual sustentou a exclusão de mulheres reais do campo do direito?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3840480" cy="658368"/>
          </a:xfrm>
          <a:prstGeom prst="rect">
            <a:avLst/>
          </a:prstGeom>
          <a:solidFill>
            <a:srgbClr val="7A1E2E">
              <a:alpha val="18000"/>
            </a:srgbClr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4498848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Sexual Visual como categoria analítica central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438912"/>
            <a:ext cx="475488" cy="475488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4389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80467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jurídica e seus regimes de visibilidade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60520" y="1901952"/>
            <a:ext cx="475488" cy="475488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9019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GÊNERO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2677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Sexual Visual e feminilidade de Estado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60520" y="3364992"/>
            <a:ext cx="475488" cy="475488"/>
          </a:xfrm>
          <a:prstGeom prst="ellipse">
            <a:avLst/>
          </a:prstGeom>
          <a:solidFill>
            <a:srgbClr val="4A5E2F"/>
          </a:solidFill>
          <a:ln w="12700">
            <a:solidFill>
              <a:srgbClr val="4A5E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3649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VISUALIDADE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73075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Iconocracia, Pathosformel e colonialidade do 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Tese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partes · 10 capítulos (caps. 2–10 + introdução e conclusão)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93392" cy="384048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Moldura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Teórica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2–4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1536192" cy="25603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Sexual Visual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Iconocracia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Colonialidade do 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1993392" cy="384048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0592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Corpus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50592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5–6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79192" y="2788920"/>
            <a:ext cx="1536192" cy="25603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Iconometria Jurídica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Mistos Sequenciais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26864" y="1005840"/>
            <a:ext cx="1993392" cy="3840480"/>
          </a:xfrm>
          <a:prstGeom prst="rect">
            <a:avLst/>
          </a:prstGeom>
          <a:solidFill>
            <a:srgbClr val="3A5E2A"/>
          </a:solidFill>
          <a:ln w="12700">
            <a:solidFill>
              <a:srgbClr val="3A5E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26864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7–8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55464" y="2788920"/>
            <a:ext cx="1536192" cy="25603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Quantitativa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(Kruskal-Wallis, RLO)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Paradigmáticos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03136" y="1005840"/>
            <a:ext cx="1993392" cy="3840480"/>
          </a:xfrm>
          <a:prstGeom prst="rect">
            <a:avLst/>
          </a:prstGeom>
          <a:solidFill>
            <a:srgbClr val="4A3520"/>
          </a:solidFill>
          <a:ln w="12700">
            <a:solidFill>
              <a:srgbClr val="4A35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03136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Iconocrático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3136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9–10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31736" y="2788920"/>
            <a:ext cx="1536192" cy="25603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Painéis — estilo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Mnemosyne de Warburg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Conceitos Operativos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 consolidado — março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84048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ORIGINAIS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Sexual Visual (CSV)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Pateman 1988 + Goodrich 2013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21284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Feminilidade de Estado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48716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Mondzain 2002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91693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Iconocrático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319125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original (Fund. / Norm. / Milit.)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6210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Purificação Clássica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38953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indicadores operacionalizados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325112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Endurecimento Militar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459943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da purificação clássica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MOBILIZADOS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508760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150876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Visiocracia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12080" y="17830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Goodrich / Legendre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212848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21284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Iconocracia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12080" y="248716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Mondzain (querela iconoclasta)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916936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91693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Pathosformel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12080" y="319125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Warburg — Bilderatlas Mnemosyne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621024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6210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Zwischenraum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12080" y="38953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Warburg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325112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432511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Colonialidade do Ver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212080" y="459943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Quijano + Mirzoeff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Método: Iconometria Jurídica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de métodos mistos sequenciais (QUAN → QUAL)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QUANTITATIVA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iconográfico sistemático (corpus de imagens)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10 indicadores de Purificação Clássica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em escala Likert ordinal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diferenças entre regimes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Ordinal (RLO): variáveis preditoras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QUALITATIVA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casos paradigmáticos por regime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iconológica: 3 níveis (Panofsky)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Pathosformel e Zwischenraum (Warburg)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Contrato Sexual Visual (Goodrich)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Colonialidade do Ver (Quijano / Mirzoeff)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133088"/>
            <a:ext cx="8503920" cy="804672"/>
          </a:xfrm>
          <a:prstGeom prst="rect">
            <a:avLst/>
          </a:prstGeom>
          <a:solidFill>
            <a:srgbClr val="1E2461">
              <a:alpha val="92000"/>
            </a:srgbClr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24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76272" y="4425696"/>
            <a:ext cx="502920" cy="201168"/>
          </a:xfrm>
          <a:prstGeom prst="rightArrow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2245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87952" y="4425696"/>
            <a:ext cx="502920" cy="201168"/>
          </a:xfrm>
          <a:prstGeom prst="rightArrow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2245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interpretativa integrando os dois paradigmas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e Fontes Iconográficas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514600" cy="128016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7782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XIX–XX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17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Séculos analisados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822960"/>
            <a:ext cx="2514600" cy="128016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87782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1517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Iconocráticos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822960"/>
            <a:ext cx="2514600" cy="128016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87782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1517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codificação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95728"/>
            <a:ext cx="2651760" cy="11887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Fundacional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Alegorias clássicas da Iustitia: frontispícios de códigos, selos de tribunais e documentos de Estado — séc. XIX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79392"/>
            <a:ext cx="2377440" cy="16459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334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Gallica BnF · BSB München · Hathi Trust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2395728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2395728"/>
            <a:ext cx="2651760" cy="11887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Normativo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03580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Ilustrações em periódicos jurídicos, manuais e publicações oficiais do Estado Liberal — sécs. XIX–XX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83280" y="4279392"/>
            <a:ext cx="2377440" cy="16459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334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Revue de droit · Law Quarterly Review · Revista Forense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395728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395728"/>
            <a:ext cx="2651760" cy="11887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Militar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035808"/>
            <a:ext cx="2377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Iconografia jurídica em contextos autoritários e de estado de exceção — séc. XX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279392"/>
            <a:ext cx="2377440" cy="16459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334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Arquivo Nacional · BN Digital · ITS Archives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— Caps. 7 e 8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977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3977640" cy="384048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7 — ANÁLISE QUANTITATIVA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37033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corpus por regime iconocrático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diferenças nos indicadores de Purificação Clássica entre regimes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Ordinal: preditores do grau de Endurecimento Militar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calor iconométrico por período e contexto geopolítico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804672"/>
            <a:ext cx="3977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804672"/>
            <a:ext cx="3977640" cy="384048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046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8 — ANÁLISE QUALITATIVA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5192" y="1298448"/>
            <a:ext cx="37033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paradigmáticos selecionados por regime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iconológica em três níveis (Panofsky): pré-iconográfico, iconográfico, iconológico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Pathosformeln e Zwischenräume identificados no corpus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CSV e da Colonialidade do Ver nos casos selecionados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4087368"/>
            <a:ext cx="8503920" cy="841248"/>
          </a:xfrm>
          <a:prstGeom prst="rect">
            <a:avLst/>
          </a:prstGeom>
          <a:solidFill>
            <a:srgbClr val="7A1E2E">
              <a:alpha val="12000"/>
            </a:srgbClr>
          </a:solidFill>
          <a:ln w="12700">
            <a:solidFill>
              <a:srgbClr val="7A1E2E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13308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7A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 de análise iconológica (Panofsky): pré-iconográfico · iconográfico · iconológico — cruzados com as categorias do Contrato Sexual Visual e da Colonialidade do Ver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Iconocrático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9–10 · 8 painéis · inspirados no Bilderatlas Mnemosyne de Aby Warburg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371600" cy="34747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7043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&amp; Método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2888" y="117043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24328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Fundacional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54296" y="1170432"/>
            <a:ext cx="1938528" cy="1600200"/>
          </a:xfrm>
          <a:prstGeom prst="rect">
            <a:avLst/>
          </a:prstGeom>
          <a:solidFill>
            <a:srgbClr val="2A1F35"/>
          </a:solidFill>
          <a:ln w="6350">
            <a:solidFill>
              <a:srgbClr val="4A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45736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(em definição)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75704" y="117043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67144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Normativo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09067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Purificação Clássica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32888" y="309067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24328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Endurecimento Militar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54296" y="3090672"/>
            <a:ext cx="1938528" cy="1600200"/>
          </a:xfrm>
          <a:prstGeom prst="rect">
            <a:avLst/>
          </a:prstGeom>
          <a:solidFill>
            <a:srgbClr val="2A1F35"/>
          </a:solidFill>
          <a:ln w="6350">
            <a:solidFill>
              <a:srgbClr val="4A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45736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definir)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75704" y="309067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75704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VIII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67144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Iconocrática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Atual da Pesquisa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896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 — 10 conceitos operativos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225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(marco 2026)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74920" y="987552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0" y="987552"/>
            <a:ext cx="3657600" cy="329184"/>
          </a:xfrm>
          <a:prstGeom prst="rect">
            <a:avLst/>
          </a:prstGeom>
          <a:solidFill>
            <a:srgbClr val="2C7A2A"/>
          </a:solidFill>
          <a:ln w="12700">
            <a:solidFill>
              <a:srgbClr val="2C7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9875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Moldura Teórica (caps. 2–4)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293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escrita / revisão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74920" y="1691640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691640"/>
            <a:ext cx="2743200" cy="329184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69164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042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Método e Corpus (caps. 5–6)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6334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escrita / revisão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395728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395728"/>
            <a:ext cx="2377440" cy="329184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3957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0083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Análise Quant. (cap. 7)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3099816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3099816"/>
            <a:ext cx="1463040" cy="32918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309981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124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Análise Qual. (cap. 8)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0416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3803904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3803904"/>
            <a:ext cx="731520" cy="32918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80390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165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 — Atlas Iconocrático (caps. 9–10)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457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4920" y="4507992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4920" y="4507992"/>
            <a:ext cx="914400" cy="329184"/>
          </a:xfrm>
          <a:prstGeom prst="rect">
            <a:avLst/>
          </a:prstGeom>
          <a:solidFill>
            <a:srgbClr val="4A5E2F"/>
          </a:solidFill>
          <a:ln w="12700">
            <a:solidFill>
              <a:srgbClr val="4A5E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45079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48646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Questões para Discussão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84048" y="932688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932688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operacionalização dos 10 indicadores de Purificação Clássica está suficientemente fundamentada para resistir à crítica metodológica?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865376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65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1865376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III do Atlas está ausente do sumário (salta de II para IV). Qual a estratégia para preencher essa lacuna estrutural?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798064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798064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estratégia mais eficaz para delimitar o corpus diante da amplitude temporal e geopolítica da pesquisa?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3730752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730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VII está marcado como '(a definir)'. Há urgência em defini-lo antes de avançar na redação dos caps. 9–10?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4663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Vanzin · PPGD/UFSC · ana.vanzin@posgrad.ufsc.br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ICONOCRACIA — Andamento da Tese</dc:title>
  <dc:subject>PptxGenJS Presentation</dc:subject>
  <dc:creator>Ana Vanzin</dc:creator>
  <cp:lastModifiedBy>Ana Vanzin</cp:lastModifiedBy>
  <cp:revision>1</cp:revision>
  <dcterms:created xsi:type="dcterms:W3CDTF">2026-03-23T04:47:17Z</dcterms:created>
  <dcterms:modified xsi:type="dcterms:W3CDTF">2026-03-23T04:47:17Z</dcterms:modified>
</cp:coreProperties>
</file>