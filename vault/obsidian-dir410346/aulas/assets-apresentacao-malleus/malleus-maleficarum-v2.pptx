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xtracted_slide1_Image 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00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3600000" cy="5143500"/>
          </a:xfrm>
          <a:prstGeom prst="rect">
            <a:avLst/>
          </a:prstGeom>
          <a:solidFill>
            <a:srgbClr val="1E142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40000" y="720000"/>
            <a:ext cx="46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B8860B"/>
                </a:solidFill>
                <a:latin typeface="Courier New"/>
              </a:rPr>
              <a:t>ESTUDO DE CASO  ·  FONTE N.º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40000" y="1080000"/>
            <a:ext cx="180000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40000" y="1368000"/>
            <a:ext cx="468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E8E2D6"/>
                </a:solidFill>
                <a:latin typeface="Georgia"/>
              </a:rPr>
              <a:t>O Malleus
Maleficarum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40000" y="2340000"/>
            <a:ext cx="46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D4A843"/>
                </a:solidFill>
                <a:latin typeface="Georgia"/>
              </a:rPr>
              <a:t>e a construção da bruxaria
como categoria jurídico-penal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0000" y="2880000"/>
            <a:ext cx="46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09A8C"/>
                </a:solidFill>
                <a:latin typeface="Calibri"/>
              </a:rPr>
              <a:t>DIR410346 — História do Direito Penal e da Justiça Criminal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0000" y="3060000"/>
            <a:ext cx="46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6B6558"/>
                </a:solidFill>
                <a:latin typeface="Calibri"/>
              </a:rPr>
              <a:t>Ana Vanzin  |  Prof. Diego Nunes  |  PPGD/UFSC, 2026.1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0000" y="3671999"/>
            <a:ext cx="38100" cy="54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6000" y="3671999"/>
            <a:ext cx="4464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D4A843"/>
                </a:solidFill>
                <a:latin typeface="Georgia"/>
              </a:rPr>
              <a:t>«Parece que tudo são embustes e enganos as culpas desta ré.»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6000" y="4103999"/>
            <a:ext cx="4464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6558"/>
                </a:solidFill>
                <a:latin typeface="Courier New"/>
              </a:rPr>
              <a:t>ANTT, Inquisição de Lisboa, processo n.º 10748</a:t>
            </a:r>
          </a:p>
        </p:txBody>
      </p:sp>
      <p:sp>
        <p:nvSpPr>
          <p:cNvPr id="13" name="Oval 12"/>
          <p:cNvSpPr/>
          <p:nvPr/>
        </p:nvSpPr>
        <p:spPr>
          <a:xfrm>
            <a:off x="8241800" y="5781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8500" y="933700"/>
            <a:ext cx="50800" cy="508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9900" y="7051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40300" y="6797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49800" y="590800"/>
            <a:ext cx="50800" cy="508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4000" y="47835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6B6558"/>
                </a:solidFill>
                <a:latin typeface="Courier New"/>
              </a:rPr>
              <a:t>01  / 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88000"/>
            <a:ext cx="72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09A8C"/>
                </a:solidFill>
                <a:latin typeface="Courier New"/>
              </a:rPr>
              <a:t>I  —  A CENA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576000"/>
            <a:ext cx="7704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900000"/>
            <a:ext cx="216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 i="0">
                <a:solidFill>
                  <a:srgbClr val="B8860B"/>
                </a:solidFill>
                <a:latin typeface="Georgia"/>
              </a:rPr>
              <a:t>1485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0" y="1007999"/>
            <a:ext cx="2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E8E2D6"/>
                </a:solidFill>
                <a:latin typeface="Georgia"/>
              </a:rPr>
              <a:t>Innsbruck, Tirol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0" y="1440000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A09A8C"/>
                </a:solidFill>
                <a:latin typeface="Calibri"/>
              </a:rPr>
              <a:t>Helena Scheuberin diante do tribunal eclesiástico</a:t>
            </a:r>
          </a:p>
        </p:txBody>
      </p:sp>
      <p:sp>
        <p:nvSpPr>
          <p:cNvPr id="7" name="Oval 6"/>
          <p:cNvSpPr/>
          <p:nvPr/>
        </p:nvSpPr>
        <p:spPr>
          <a:xfrm>
            <a:off x="900000" y="2043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1999" y="1980000"/>
            <a:ext cx="69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E2D6"/>
                </a:solidFill>
                <a:latin typeface="Calibri"/>
              </a:rPr>
              <a:t>Acusações</a:t>
            </a:r>
            <a:r>
              <a:rPr sz="1300" b="0">
                <a:solidFill>
                  <a:srgbClr val="A09A8C"/>
                </a:solidFill>
                <a:latin typeface="Calibri"/>
              </a:rPr>
              <a:t>  —  homicídio por maleficium, desobediência</a:t>
            </a:r>
          </a:p>
        </p:txBody>
      </p:sp>
      <p:sp>
        <p:nvSpPr>
          <p:cNvPr id="9" name="Oval 8"/>
          <p:cNvSpPr/>
          <p:nvPr/>
        </p:nvSpPr>
        <p:spPr>
          <a:xfrm>
            <a:off x="900000" y="2403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1999" y="2340000"/>
            <a:ext cx="69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E2D6"/>
                </a:solidFill>
                <a:latin typeface="Calibri"/>
              </a:rPr>
              <a:t>O inquisidor Institoris</a:t>
            </a:r>
            <a:r>
              <a:rPr sz="1300" b="0">
                <a:solidFill>
                  <a:srgbClr val="A09A8C"/>
                </a:solidFill>
                <a:latin typeface="Calibri"/>
              </a:rPr>
              <a:t>  —  interroga pela vida sexual da ré</a:t>
            </a:r>
          </a:p>
        </p:txBody>
      </p:sp>
      <p:sp>
        <p:nvSpPr>
          <p:cNvPr id="11" name="Oval 10"/>
          <p:cNvSpPr/>
          <p:nvPr/>
        </p:nvSpPr>
        <p:spPr>
          <a:xfrm>
            <a:off x="900000" y="2763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1999" y="2700000"/>
            <a:ext cx="69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E2D6"/>
                </a:solidFill>
                <a:latin typeface="Calibri"/>
              </a:rPr>
              <a:t>Os comissários do bispo</a:t>
            </a:r>
            <a:r>
              <a:rPr sz="1300" b="0">
                <a:solidFill>
                  <a:srgbClr val="A09A8C"/>
                </a:solidFill>
                <a:latin typeface="Calibri"/>
              </a:rPr>
              <a:t>  —  advogado de defesa, vícios processuais</a:t>
            </a:r>
          </a:p>
        </p:txBody>
      </p:sp>
      <p:sp>
        <p:nvSpPr>
          <p:cNvPr id="13" name="Oval 12"/>
          <p:cNvSpPr/>
          <p:nvPr/>
        </p:nvSpPr>
        <p:spPr>
          <a:xfrm>
            <a:off x="900000" y="3123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1999" y="3060000"/>
            <a:ext cx="69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E2D6"/>
                </a:solidFill>
                <a:latin typeface="Calibri"/>
              </a:rPr>
              <a:t>Resultado</a:t>
            </a:r>
            <a:r>
              <a:rPr sz="1300" b="0">
                <a:solidFill>
                  <a:srgbClr val="A09A8C"/>
                </a:solidFill>
                <a:latin typeface="Calibri"/>
              </a:rPr>
              <a:t>  —  processo anulado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3780000"/>
            <a:ext cx="38100" cy="54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6000" y="3780000"/>
            <a:ext cx="6264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D4A843"/>
                </a:solidFill>
                <a:latin typeface="Georgia"/>
              </a:rPr>
              <a:t>É dessa humilhação que nasce o Malleus Maleficarum.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4000" y="47835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6B6558"/>
                </a:solidFill>
                <a:latin typeface="Courier New"/>
              </a:rPr>
              <a:t>02  / 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88000"/>
            <a:ext cx="72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09A8C"/>
                </a:solidFill>
                <a:latin typeface="Courier New"/>
              </a:rPr>
              <a:t>II  —  O TIPO PENAL COMPÓSITO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576000"/>
            <a:ext cx="7704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900000"/>
            <a:ext cx="64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0" i="0">
                <a:solidFill>
                  <a:srgbClr val="E8E2D6"/>
                </a:solidFill>
                <a:latin typeface="Georgia"/>
              </a:rPr>
              <a:t>Cinco categorias  →  um tipo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620000"/>
            <a:ext cx="18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09A8C"/>
                </a:solidFill>
                <a:latin typeface="Courier New"/>
              </a:rPr>
              <a:t>maleficium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0000" y="1721600"/>
            <a:ext cx="720000" cy="63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1944000"/>
            <a:ext cx="18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09A8C"/>
                </a:solidFill>
                <a:latin typeface="Courier New"/>
              </a:rPr>
              <a:t>heresia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0000" y="2045600"/>
            <a:ext cx="720000" cy="63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000" y="2268000"/>
            <a:ext cx="18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09A8C"/>
                </a:solidFill>
                <a:latin typeface="Courier New"/>
              </a:rPr>
              <a:t>demonolatria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0000" y="2369600"/>
            <a:ext cx="720000" cy="63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2592000"/>
            <a:ext cx="18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09A8C"/>
                </a:solidFill>
                <a:latin typeface="Courier New"/>
              </a:rPr>
              <a:t>lamiae / strigae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0000" y="2693600"/>
            <a:ext cx="720000" cy="63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000" y="2916000"/>
            <a:ext cx="18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09A8C"/>
                </a:solidFill>
                <a:latin typeface="Courier New"/>
              </a:rPr>
              <a:t>pacto diabólico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0000" y="3017600"/>
            <a:ext cx="720000" cy="63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000" y="1872000"/>
            <a:ext cx="18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 i="0">
                <a:solidFill>
                  <a:srgbClr val="E8E2D6"/>
                </a:solidFill>
                <a:latin typeface="Georgia"/>
              </a:rPr>
              <a:t>BRUXA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0" y="2592000"/>
            <a:ext cx="18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A09A8C"/>
                </a:solidFill>
                <a:latin typeface="Courier New"/>
              </a:rPr>
              <a:t>tipo compósito do Malleus</a:t>
            </a:r>
          </a:p>
        </p:txBody>
      </p:sp>
      <p:sp>
        <p:nvSpPr>
          <p:cNvPr id="17" name="Oval 16"/>
          <p:cNvSpPr/>
          <p:nvPr/>
        </p:nvSpPr>
        <p:spPr>
          <a:xfrm>
            <a:off x="5940000" y="1683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1999" y="1620000"/>
            <a:ext cx="262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5 categorias autônomas → 1 tipo totalizante</a:t>
            </a:r>
          </a:p>
        </p:txBody>
      </p:sp>
      <p:sp>
        <p:nvSpPr>
          <p:cNvPr id="19" name="Oval 18"/>
          <p:cNvSpPr/>
          <p:nvPr/>
        </p:nvSpPr>
        <p:spPr>
          <a:xfrm>
            <a:off x="5940000" y="2043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1999" y="1980000"/>
            <a:ext cx="262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Parte III: manual de procedimento judicial</a:t>
            </a:r>
          </a:p>
        </p:txBody>
      </p:sp>
      <p:sp>
        <p:nvSpPr>
          <p:cNvPr id="21" name="Oval 20"/>
          <p:cNvSpPr/>
          <p:nvPr/>
        </p:nvSpPr>
        <p:spPr>
          <a:xfrm>
            <a:off x="5940000" y="2403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1999" y="2340000"/>
            <a:ext cx="262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Qualquer indício → prova de bruxaria total</a:t>
            </a:r>
          </a:p>
        </p:txBody>
      </p:sp>
      <p:sp>
        <p:nvSpPr>
          <p:cNvPr id="23" name="Oval 22"/>
          <p:cNvSpPr/>
          <p:nvPr/>
        </p:nvSpPr>
        <p:spPr>
          <a:xfrm>
            <a:off x="5940000" y="2763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1999" y="2700000"/>
            <a:ext cx="262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8 edições até 1500 · ~30–50 mil cópias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000" y="3780000"/>
            <a:ext cx="38100" cy="54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6000" y="3780000"/>
            <a:ext cx="6984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D4A843"/>
                </a:solidFill>
                <a:latin typeface="Georgia"/>
              </a:rPr>
              <a:t>Institoris não está fazendo teologia. Está criando um tipo penal.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4000" y="47835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6B6558"/>
                </a:solidFill>
                <a:latin typeface="Courier New"/>
              </a:rPr>
              <a:t>03  / 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88000"/>
            <a:ext cx="72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09A8C"/>
                </a:solidFill>
                <a:latin typeface="Courier New"/>
              </a:rPr>
              <a:t>III  —  DUAS EPISTEMOLOGIAS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576000"/>
            <a:ext cx="7704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900000"/>
            <a:ext cx="64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E8E2D6"/>
                </a:solidFill>
                <a:latin typeface="Georgia"/>
              </a:rPr>
              <a:t>Duas epistemologias em colisão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440000"/>
            <a:ext cx="36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D4A843"/>
                </a:solidFill>
                <a:latin typeface="Calibri"/>
              </a:rPr>
              <a:t>COMISSÁRIOS DO BISPO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1692000"/>
            <a:ext cx="3600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800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8E2D6"/>
                </a:solidFill>
                <a:latin typeface="Calibri"/>
              </a:rPr>
              <a:t>Crime = maleficium verificável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000" y="2052000"/>
            <a:ext cx="3600000" cy="12700"/>
          </a:xfrm>
          <a:prstGeom prst="rect">
            <a:avLst/>
          </a:prstGeom>
          <a:solidFill>
            <a:srgbClr val="3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2124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8E2D6"/>
                </a:solidFill>
                <a:latin typeface="Calibri"/>
              </a:rPr>
              <a:t>Prova: testemunhos, indícios materiais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000" y="2376000"/>
            <a:ext cx="3600000" cy="12700"/>
          </a:xfrm>
          <a:prstGeom prst="rect">
            <a:avLst/>
          </a:prstGeom>
          <a:solidFill>
            <a:srgbClr val="3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2448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8E2D6"/>
                </a:solidFill>
                <a:latin typeface="Calibri"/>
              </a:rPr>
              <a:t>Advogado de defesa admitido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2700000"/>
            <a:ext cx="3600000" cy="12700"/>
          </a:xfrm>
          <a:prstGeom prst="rect">
            <a:avLst/>
          </a:prstGeom>
          <a:solidFill>
            <a:srgbClr val="3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2772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8E2D6"/>
                </a:solidFill>
                <a:latin typeface="Calibri"/>
              </a:rPr>
              <a:t>Anulação por vícios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0000" y="1440000"/>
            <a:ext cx="36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D4A843"/>
                </a:solidFill>
                <a:latin typeface="Calibri"/>
              </a:rPr>
              <a:t>INQUISIDOR INSTITORIS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60000" y="1692000"/>
            <a:ext cx="3600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1800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8E2D6"/>
                </a:solidFill>
                <a:latin typeface="Calibri"/>
              </a:rPr>
              <a:t>Crime = sexualidade desordenada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60000" y="2052000"/>
            <a:ext cx="3600000" cy="12700"/>
          </a:xfrm>
          <a:prstGeom prst="rect">
            <a:avLst/>
          </a:prstGeom>
          <a:solidFill>
            <a:srgbClr val="3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0000" y="2124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8E2D6"/>
                </a:solidFill>
                <a:latin typeface="Calibri"/>
              </a:rPr>
              <a:t>Prova: vida sexual da ré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0000" y="2376000"/>
            <a:ext cx="3600000" cy="12700"/>
          </a:xfrm>
          <a:prstGeom prst="rect">
            <a:avLst/>
          </a:prstGeom>
          <a:solidFill>
            <a:srgbClr val="3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0000" y="2448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8E2D6"/>
                </a:solidFill>
                <a:latin typeface="Calibri"/>
              </a:rPr>
              <a:t>Sem garantias processuais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0000" y="2700000"/>
            <a:ext cx="3600000" cy="12700"/>
          </a:xfrm>
          <a:prstGeom prst="rect">
            <a:avLst/>
          </a:prstGeom>
          <a:solidFill>
            <a:srgbClr val="3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0000" y="2772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8E2D6"/>
                </a:solidFill>
                <a:latin typeface="Calibri"/>
              </a:rPr>
              <a:t>Derrota → escreve o Malleus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000" y="3600000"/>
            <a:ext cx="38100" cy="54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6000" y="3600000"/>
            <a:ext cx="7704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D4A843"/>
                </a:solidFill>
                <a:latin typeface="Georgia"/>
              </a:rPr>
              <a:t>O tribunal colapsa porque os juízes não compartilham a definição do tipo penal.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4000" y="47835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6B6558"/>
                </a:solidFill>
                <a:latin typeface="Courier New"/>
              </a:rPr>
              <a:t>04  / 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900000"/>
            <a:ext cx="360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0" i="0">
                <a:solidFill>
                  <a:srgbClr val="E8E2D6"/>
                </a:solidFill>
                <a:latin typeface="Georgia"/>
              </a:rPr>
              <a:t>Innsbruck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872000"/>
            <a:ext cx="36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A09A8C"/>
                </a:solidFill>
                <a:latin typeface="Courier New"/>
              </a:rPr>
              <a:t>1485  ·  publicação 1487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0" y="1440000"/>
            <a:ext cx="144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 i="0">
                <a:solidFill>
                  <a:srgbClr val="D4A843"/>
                </a:solidFill>
                <a:latin typeface="Georgia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0" y="900000"/>
            <a:ext cx="396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0" i="0">
                <a:solidFill>
                  <a:srgbClr val="E8E2D6"/>
                </a:solidFill>
                <a:latin typeface="Georgia"/>
              </a:rPr>
              <a:t>Salvador
da Bahia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0" y="1872000"/>
            <a:ext cx="39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A09A8C"/>
                </a:solidFill>
                <a:latin typeface="Courier New"/>
              </a:rPr>
              <a:t>1591  ·  Primeira Visitação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70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09A8C"/>
                </a:solidFill>
                <a:latin typeface="Calibri"/>
              </a:rPr>
              <a:t>Sem tribunal permanente  ·  121 confissões  ·  212 denunciações  ·  Processos remetidos a Lisboa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0" y="3600000"/>
            <a:ext cx="38100" cy="54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6000" y="3600000"/>
            <a:ext cx="5544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D4A843"/>
                </a:solidFill>
                <a:latin typeface="Georgia"/>
              </a:rPr>
              <a:t>Cem anos depois. Outro continente. Outro sistema jurisdicional.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4000" y="47835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6B6558"/>
                </a:solidFill>
                <a:latin typeface="Courier New"/>
              </a:rPr>
              <a:t>05  / 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88000"/>
            <a:ext cx="72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09A8C"/>
                </a:solidFill>
                <a:latin typeface="Courier New"/>
              </a:rPr>
              <a:t>IV  —  MARIA GONÇALVES CAJADA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576000"/>
            <a:ext cx="7704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900000"/>
            <a:ext cx="648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 i="0">
                <a:solidFill>
                  <a:srgbClr val="E8E2D6"/>
                </a:solidFill>
                <a:latin typeface="Georgia"/>
              </a:rPr>
              <a:t>Arde-lhe-o-Rabo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20000"/>
            <a:ext cx="64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09A8C"/>
                </a:solidFill>
                <a:latin typeface="Courier New"/>
              </a:rPr>
              <a:t>Maria Gonçalves Cajada  ·  Salvador da Bahia, 1591–1593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2043500"/>
            <a:ext cx="6840000" cy="12700"/>
          </a:xfrm>
          <a:prstGeom prst="rect">
            <a:avLst/>
          </a:prstGeom>
          <a:solidFill>
            <a:srgbClr val="A09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0000" y="1980000"/>
            <a:ext cx="127000" cy="1270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62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E8E2D6"/>
                </a:solidFill>
                <a:latin typeface="Calibri"/>
              </a:rPr>
              <a:t>Estremoz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16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A09A8C"/>
                </a:solidFill>
                <a:latin typeface="Courier New"/>
              </a:rPr>
              <a:t>incêndio + agressão</a:t>
            </a:r>
          </a:p>
        </p:txBody>
      </p:sp>
      <p:sp>
        <p:nvSpPr>
          <p:cNvPr id="10" name="Oval 9"/>
          <p:cNvSpPr/>
          <p:nvPr/>
        </p:nvSpPr>
        <p:spPr>
          <a:xfrm>
            <a:off x="3060000" y="1980000"/>
            <a:ext cx="127000" cy="1270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0000" y="162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E8E2D6"/>
                </a:solidFill>
                <a:latin typeface="Calibri"/>
              </a:rPr>
              <a:t>Pernambuco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0" y="216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A09A8C"/>
                </a:solidFill>
                <a:latin typeface="Courier New"/>
              </a:rPr>
              <a:t>degredo 6 anos</a:t>
            </a:r>
          </a:p>
        </p:txBody>
      </p:sp>
      <p:sp>
        <p:nvSpPr>
          <p:cNvPr id="13" name="Oval 12"/>
          <p:cNvSpPr/>
          <p:nvPr/>
        </p:nvSpPr>
        <p:spPr>
          <a:xfrm>
            <a:off x="4860000" y="1980000"/>
            <a:ext cx="127000" cy="1270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0" y="162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E8E2D6"/>
                </a:solidFill>
                <a:latin typeface="Calibri"/>
              </a:rPr>
              <a:t>Bahia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0" y="216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A09A8C"/>
                </a:solidFill>
                <a:latin typeface="Courier New"/>
              </a:rPr>
              <a:t>penitência c/ carocha</a:t>
            </a:r>
          </a:p>
        </p:txBody>
      </p:sp>
      <p:sp>
        <p:nvSpPr>
          <p:cNvPr id="16" name="Oval 15"/>
          <p:cNvSpPr/>
          <p:nvPr/>
        </p:nvSpPr>
        <p:spPr>
          <a:xfrm>
            <a:off x="6660000" y="1980000"/>
            <a:ext cx="127000" cy="1270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0" y="162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E8E2D6"/>
                </a:solidFill>
                <a:latin typeface="Calibri"/>
              </a:rPr>
              <a:t>Portugal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0" y="216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A09A8C"/>
                </a:solidFill>
                <a:latin typeface="Courier New"/>
              </a:rPr>
              <a:t>proc. n.º 10748</a:t>
            </a:r>
          </a:p>
        </p:txBody>
      </p:sp>
      <p:sp>
        <p:nvSpPr>
          <p:cNvPr id="19" name="Oval 18"/>
          <p:cNvSpPr/>
          <p:nvPr/>
        </p:nvSpPr>
        <p:spPr>
          <a:xfrm>
            <a:off x="900000" y="2763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1999" y="2700000"/>
            <a:ext cx="69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E2D6"/>
                </a:solidFill>
                <a:latin typeface="Calibri"/>
              </a:rPr>
              <a:t>Cristã-velha</a:t>
            </a:r>
            <a:r>
              <a:rPr sz="1300" b="0">
                <a:solidFill>
                  <a:srgbClr val="A09A8C"/>
                </a:solidFill>
                <a:latin typeface="Calibri"/>
              </a:rPr>
              <a:t>  —  natural de Estremoz, casada com Gaspar Pinto, marinheiro</a:t>
            </a:r>
          </a:p>
        </p:txBody>
      </p:sp>
      <p:sp>
        <p:nvSpPr>
          <p:cNvPr id="21" name="Oval 20"/>
          <p:cNvSpPr/>
          <p:nvPr/>
        </p:nvSpPr>
        <p:spPr>
          <a:xfrm>
            <a:off x="900000" y="3087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1999" y="3024000"/>
            <a:ext cx="69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«A mais famosa feiticeira do Brasil quinhentista» (Laura de Mello e Souza)</a:t>
            </a:r>
          </a:p>
        </p:txBody>
      </p:sp>
      <p:sp>
        <p:nvSpPr>
          <p:cNvPr id="23" name="Oval 22"/>
          <p:cNvSpPr/>
          <p:nvPr/>
        </p:nvSpPr>
        <p:spPr>
          <a:xfrm>
            <a:off x="900000" y="3411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1999" y="3348000"/>
            <a:ext cx="69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E2D6"/>
                </a:solidFill>
                <a:latin typeface="Calibri"/>
              </a:rPr>
              <a:t>Reincidente</a:t>
            </a:r>
            <a:r>
              <a:rPr sz="1300" b="0">
                <a:solidFill>
                  <a:srgbClr val="A09A8C"/>
                </a:solidFill>
                <a:latin typeface="Calibri"/>
              </a:rPr>
              <a:t>  —  já degredada antes da Visitação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000" y="3780000"/>
            <a:ext cx="38100" cy="54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6000" y="3780000"/>
            <a:ext cx="6984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D4A843"/>
                </a:solidFill>
                <a:latin typeface="Georgia"/>
              </a:rPr>
              <a:t>Uma mulher que acumulava condenações sem que o ciclo punitivo se interrompesse.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4000" y="47835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6B6558"/>
                </a:solidFill>
                <a:latin typeface="Courier New"/>
              </a:rPr>
              <a:t>06  / 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88000"/>
            <a:ext cx="72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09A8C"/>
                </a:solidFill>
                <a:latin typeface="Courier New"/>
              </a:rPr>
              <a:t>V  —  OS AUTOS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576000"/>
            <a:ext cx="7704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900000"/>
            <a:ext cx="64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E8E2D6"/>
                </a:solidFill>
                <a:latin typeface="Georgia"/>
              </a:rPr>
              <a:t>O que dizem os autos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260000"/>
            <a:ext cx="28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09A8C"/>
                </a:solidFill>
                <a:latin typeface="Courier New"/>
              </a:rPr>
              <a:t>ANTT, processo n.º 10748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1620000"/>
            <a:ext cx="38100" cy="54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6000" y="1620000"/>
            <a:ext cx="6984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D4A843"/>
                </a:solidFill>
                <a:latin typeface="Georgia"/>
              </a:rPr>
              <a:t>«Se o bispo tinha mitra também ela tinha mitra e se o bispo pregava do púlpito também ela pregava de cadeira.»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052000"/>
            <a:ext cx="6984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6558"/>
                </a:solidFill>
                <a:latin typeface="Courier New"/>
              </a:rPr>
              <a:t>— fl. 05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000" y="2232000"/>
            <a:ext cx="38100" cy="54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6000" y="2232000"/>
            <a:ext cx="6984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D4A843"/>
                </a:solidFill>
                <a:latin typeface="Georgia"/>
              </a:rPr>
              <a:t>«[Alegou que] era como um gato que sempre caía em pé e que nem em Pernambuco e nem na Bahia a prenderam.»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000" y="2664000"/>
            <a:ext cx="6984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6558"/>
                </a:solidFill>
                <a:latin typeface="Courier New"/>
              </a:rPr>
              <a:t>— fl.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51999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CATEGORIA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0" y="2951999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NO MALLEUS?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000" y="3131999"/>
            <a:ext cx="7200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3239999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Demonolatria · Maleficium · Profanação litúrgica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0" y="3239999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8E2D6"/>
                </a:solidFill>
                <a:latin typeface="Calibri"/>
              </a:rPr>
              <a:t>Sim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0" y="3473999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Usurpação de jurisdição eclesiástica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0" y="3473999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87B7B"/>
                </a:solidFill>
                <a:latin typeface="Calibri"/>
              </a:rPr>
              <a:t>Não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00" y="3707999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Feitiçaria como serviço comercial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0000" y="3707999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87B7B"/>
                </a:solidFill>
                <a:latin typeface="Calibri"/>
              </a:rPr>
              <a:t>Não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4000" y="47835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6B6558"/>
                </a:solidFill>
                <a:latin typeface="Courier New"/>
              </a:rPr>
              <a:t>07  / 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88000"/>
            <a:ext cx="72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09A8C"/>
                </a:solidFill>
                <a:latin typeface="Courier New"/>
              </a:rPr>
              <a:t>VI  —  ESTRATÉGIA PROCESSUAL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576000"/>
            <a:ext cx="7704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900000"/>
            <a:ext cx="64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E8E2D6"/>
                </a:solidFill>
                <a:latin typeface="Georgia"/>
              </a:rPr>
              <a:t>Três movimentos da confissão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440000"/>
            <a:ext cx="72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B8860B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0" y="1440000"/>
            <a:ext cx="28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8E2D6"/>
                </a:solidFill>
                <a:latin typeface="Calibri"/>
              </a:rPr>
              <a:t>Nega o dano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0" y="1656000"/>
            <a:ext cx="64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9A8C"/>
                </a:solidFill>
                <a:latin typeface="Calibri"/>
              </a:rPr>
              <a:t>os feitiços não funcionaram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160000"/>
            <a:ext cx="72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B8860B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0" y="2160000"/>
            <a:ext cx="28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8E2D6"/>
                </a:solidFill>
                <a:latin typeface="Calibri"/>
              </a:rPr>
              <a:t>Admite o engano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0" y="2376000"/>
            <a:ext cx="64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9A8C"/>
                </a:solidFill>
                <a:latin typeface="Calibri"/>
              </a:rPr>
              <a:t>tudo era falsidade para ganhar dinheiro e alimentos
os pós eram fígados de galinha torrados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2880000"/>
            <a:ext cx="72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B8860B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0" y="2880000"/>
            <a:ext cx="28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8E2D6"/>
                </a:solidFill>
                <a:latin typeface="Calibri"/>
              </a:rPr>
              <a:t>Se contradiz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0" y="3096000"/>
            <a:ext cx="64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9A8C"/>
                </a:solidFill>
                <a:latin typeface="Calibri"/>
              </a:rPr>
              <a:t>não lembra de zombar do bispo, mas quando zombava,
era para convencer as pessoas do seu poder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000" y="3600000"/>
            <a:ext cx="7920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3671999"/>
            <a:ext cx="10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4A843"/>
                </a:solidFill>
                <a:latin typeface="Calibri"/>
              </a:rPr>
              <a:t>SENTENÇA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0000" y="3671999"/>
            <a:ext cx="64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Penitência pública, degredo para Portugal, isenta de açoites por doença.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000" y="4031999"/>
            <a:ext cx="38100" cy="54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6000" y="4031999"/>
            <a:ext cx="3384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D4A843"/>
                </a:solidFill>
                <a:latin typeface="Georgia"/>
              </a:rPr>
              <a:t>Até quando duvidam, punem.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4000" y="47835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6B6558"/>
                </a:solidFill>
                <a:latin typeface="Courier New"/>
              </a:rPr>
              <a:t>08  / 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88000"/>
            <a:ext cx="72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09A8C"/>
                </a:solidFill>
                <a:latin typeface="Courier New"/>
              </a:rPr>
              <a:t>VII  —  CONTRA-EXEMPLOS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576000"/>
            <a:ext cx="7704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900000"/>
            <a:ext cx="64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E8E2D6"/>
                </a:solidFill>
                <a:latin typeface="Georgia"/>
              </a:rPr>
              <a:t>Variações na construção do tipo penal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440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D4A843"/>
                </a:solidFill>
                <a:latin typeface="Georgia"/>
              </a:rPr>
              <a:t>Scheuberin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692000"/>
            <a:ext cx="25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A09A8C"/>
                </a:solidFill>
                <a:latin typeface="Courier New"/>
              </a:rPr>
              <a:t>(Innsbruck, 1485)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088000"/>
            <a:ext cx="2520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D4A843"/>
                </a:solidFill>
                <a:latin typeface="Calibri"/>
              </a:rPr>
              <a:t>PAPEL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213999"/>
            <a:ext cx="25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484000"/>
            <a:ext cx="2520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D4A843"/>
                </a:solidFill>
                <a:latin typeface="Calibri"/>
              </a:rPr>
              <a:t>CRIME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609999"/>
            <a:ext cx="25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Maleficium + heresia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2880000"/>
            <a:ext cx="2520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D4A843"/>
                </a:solidFill>
                <a:latin typeface="Calibri"/>
              </a:rPr>
              <a:t>DESFECHO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5999"/>
            <a:ext cx="25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Absolvição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276000"/>
            <a:ext cx="2520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D4A843"/>
                </a:solidFill>
                <a:latin typeface="Calibri"/>
              </a:rPr>
              <a:t>REVELA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3401999"/>
            <a:ext cx="25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Tipo penal em disputa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0" y="1440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D4A843"/>
                </a:solidFill>
                <a:latin typeface="Georgia"/>
              </a:rPr>
              <a:t>Guiomar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0" y="1692000"/>
            <a:ext cx="25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A09A8C"/>
                </a:solidFill>
                <a:latin typeface="Courier New"/>
              </a:rPr>
              <a:t>(Bahia, 1591)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0" y="2088000"/>
            <a:ext cx="2520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D4A843"/>
                </a:solidFill>
                <a:latin typeface="Calibri"/>
              </a:rPr>
              <a:t>PAPEL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0000" y="2213999"/>
            <a:ext cx="25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Confitente voluntária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0000" y="2484000"/>
            <a:ext cx="2520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D4A843"/>
                </a:solidFill>
                <a:latin typeface="Calibri"/>
              </a:rPr>
              <a:t>CRIME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0000" y="2609999"/>
            <a:ext cx="25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Magia amorosa doméstica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0000" y="2880000"/>
            <a:ext cx="2520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D4A843"/>
                </a:solidFill>
                <a:latin typeface="Calibri"/>
              </a:rPr>
              <a:t>DESFECHO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0000" y="3005999"/>
            <a:ext cx="25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Penitência espiritual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0000" y="3276000"/>
            <a:ext cx="2520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D4A843"/>
                </a:solidFill>
                <a:latin typeface="Calibri"/>
              </a:rPr>
              <a:t>REVELA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0000" y="3401999"/>
            <a:ext cx="25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Maioria dos casos coloniais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0000" y="1440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D4A843"/>
                </a:solidFill>
                <a:latin typeface="Georgia"/>
              </a:rPr>
              <a:t>Catarina Quaresma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0000" y="1692000"/>
            <a:ext cx="25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A09A8C"/>
                </a:solidFill>
                <a:latin typeface="Courier New"/>
              </a:rPr>
              <a:t>(Bahia, 1591)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0000" y="2088000"/>
            <a:ext cx="2520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D4A843"/>
                </a:solidFill>
                <a:latin typeface="Calibri"/>
              </a:rPr>
              <a:t>PAPEL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0000" y="2213999"/>
            <a:ext cx="25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Testemunha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0000" y="2484000"/>
            <a:ext cx="2520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D4A843"/>
                </a:solidFill>
                <a:latin typeface="Calibri"/>
              </a:rPr>
              <a:t>CRIME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0000" y="2609999"/>
            <a:ext cx="25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0000" y="2880000"/>
            <a:ext cx="2520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D4A843"/>
                </a:solidFill>
                <a:latin typeface="Calibri"/>
              </a:rPr>
              <a:t>DESFECHO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0000" y="3005999"/>
            <a:ext cx="25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Recusa denunciar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0000" y="3276000"/>
            <a:ext cx="2520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D4A843"/>
                </a:solidFill>
                <a:latin typeface="Calibri"/>
              </a:rPr>
              <a:t>REVELA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0000" y="3401999"/>
            <a:ext cx="25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8E2D6"/>
                </a:solidFill>
                <a:latin typeface="Calibri"/>
              </a:rPr>
              <a:t>Demonização não era unânime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4000" y="47835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6B6558"/>
                </a:solidFill>
                <a:latin typeface="Courier New"/>
              </a:rPr>
              <a:t>09  / 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88000"/>
            <a:ext cx="72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09A8C"/>
                </a:solidFill>
                <a:latin typeface="Courier New"/>
              </a:rPr>
              <a:t>VIII  —  SBRICCOLI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576000"/>
            <a:ext cx="7704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900000"/>
            <a:ext cx="72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E8E2D6"/>
                </a:solidFill>
                <a:latin typeface="Georgia"/>
              </a:rPr>
              <a:t>Justiça negociada dentro da hegemônica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440000"/>
            <a:ext cx="36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D4A843"/>
                </a:solidFill>
                <a:latin typeface="Calibri"/>
              </a:rPr>
              <a:t>INNSBRUCK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1655999"/>
            <a:ext cx="3600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0000" y="1863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1999" y="1800000"/>
            <a:ext cx="33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Bispo local como freio ao inquisidor papal</a:t>
            </a:r>
          </a:p>
        </p:txBody>
      </p:sp>
      <p:sp>
        <p:nvSpPr>
          <p:cNvPr id="9" name="Oval 8"/>
          <p:cNvSpPr/>
          <p:nvPr/>
        </p:nvSpPr>
        <p:spPr>
          <a:xfrm>
            <a:off x="900000" y="2187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1999" y="2124000"/>
            <a:ext cx="33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Advogado de defesa arguindo nulidades</a:t>
            </a:r>
          </a:p>
        </p:txBody>
      </p:sp>
      <p:sp>
        <p:nvSpPr>
          <p:cNvPr id="11" name="Oval 10"/>
          <p:cNvSpPr/>
          <p:nvPr/>
        </p:nvSpPr>
        <p:spPr>
          <a:xfrm>
            <a:off x="900000" y="2511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1999" y="2448000"/>
            <a:ext cx="33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Processo anulado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0000" y="1440000"/>
            <a:ext cx="36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D4A843"/>
                </a:solidFill>
                <a:latin typeface="Calibri"/>
              </a:rPr>
              <a:t>BAHIA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0000" y="1655999"/>
            <a:ext cx="3600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60000" y="1863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999" y="1800000"/>
            <a:ext cx="33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Sem tribunal permanente</a:t>
            </a:r>
          </a:p>
        </p:txBody>
      </p:sp>
      <p:sp>
        <p:nvSpPr>
          <p:cNvPr id="17" name="Oval 16"/>
          <p:cNvSpPr/>
          <p:nvPr/>
        </p:nvSpPr>
        <p:spPr>
          <a:xfrm>
            <a:off x="4860000" y="2187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999" y="2124000"/>
            <a:ext cx="33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Tempo de Graça: autodenúncia incentivada</a:t>
            </a:r>
          </a:p>
        </p:txBody>
      </p:sp>
      <p:sp>
        <p:nvSpPr>
          <p:cNvPr id="19" name="Oval 18"/>
          <p:cNvSpPr/>
          <p:nvPr/>
        </p:nvSpPr>
        <p:spPr>
          <a:xfrm>
            <a:off x="4860000" y="2511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1999" y="2448000"/>
            <a:ext cx="33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Ré negocia os limites do confessável</a:t>
            </a:r>
          </a:p>
        </p:txBody>
      </p:sp>
      <p:sp>
        <p:nvSpPr>
          <p:cNvPr id="21" name="Oval 20"/>
          <p:cNvSpPr/>
          <p:nvPr/>
        </p:nvSpPr>
        <p:spPr>
          <a:xfrm>
            <a:off x="4860000" y="2835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11999" y="2772000"/>
            <a:ext cx="33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Tribunal duvida: «embustes e enganos»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000" y="3600000"/>
            <a:ext cx="38100" cy="54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6000" y="3600000"/>
            <a:ext cx="7704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D4A843"/>
                </a:solidFill>
                <a:latin typeface="Georgia"/>
              </a:rPr>
              <a:t>A justiça hegemônica, nos dois lados do Atlântico, carrega dentro de si a justiça negociada.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4000" y="47835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6B6558"/>
                </a:solidFill>
                <a:latin typeface="Courier New"/>
              </a:rPr>
              <a:t>10  / 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88000"/>
            <a:ext cx="72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09A8C"/>
                </a:solidFill>
                <a:latin typeface="Courier New"/>
              </a:rPr>
              <a:t>IX  —  HISTORICIDADE DO TIPO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576000"/>
            <a:ext cx="7704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900000"/>
            <a:ext cx="72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E8E2D6"/>
                </a:solidFill>
                <a:latin typeface="Georgia"/>
              </a:rPr>
              <a:t>O tipo viaja e se transforma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512000"/>
            <a:ext cx="14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B8860B"/>
                </a:solidFill>
                <a:latin typeface="Georgia"/>
              </a:rPr>
              <a:t>1487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1548000"/>
            <a:ext cx="18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8E2D6"/>
                </a:solidFill>
                <a:latin typeface="Calibri"/>
              </a:rPr>
              <a:t>Malleus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1763999"/>
            <a:ext cx="43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9A8C"/>
                </a:solidFill>
                <a:latin typeface="Calibri"/>
              </a:rPr>
              <a:t>fusão compósita europeia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232000"/>
            <a:ext cx="14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B8860B"/>
                </a:solidFill>
                <a:latin typeface="Georgia"/>
              </a:rPr>
              <a:t>1591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0000" y="2268000"/>
            <a:ext cx="18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8E2D6"/>
                </a:solidFill>
                <a:latin typeface="Calibri"/>
              </a:rPr>
              <a:t>Bahia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2483999"/>
            <a:ext cx="43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9A8C"/>
                </a:solidFill>
                <a:latin typeface="Calibri"/>
              </a:rPr>
              <a:t>decomposição + recomposição
calundu, mandinga, curandeirismo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2952000"/>
            <a:ext cx="14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 i="1">
                <a:solidFill>
                  <a:srgbClr val="B8860B"/>
                </a:solidFill>
                <a:latin typeface="Georgia"/>
              </a:rPr>
              <a:t>Cajada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0" y="2988000"/>
            <a:ext cx="18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8E2D6"/>
                </a:solidFill>
                <a:latin typeface="Calibri"/>
              </a:rPr>
              <a:t>limiar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0000" y="3203999"/>
            <a:ext cx="43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9A8C"/>
                </a:solidFill>
                <a:latin typeface="Calibri"/>
              </a:rPr>
              <a:t>no limiar entre os dois modelos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000" y="3600000"/>
            <a:ext cx="7920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3671999"/>
            <a:ext cx="28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4A843"/>
                </a:solidFill>
                <a:latin typeface="Calibri"/>
              </a:rPr>
              <a:t>CIRCULAÇÃO, NÃO «INFLUÊNCIA»</a:t>
            </a:r>
          </a:p>
        </p:txBody>
      </p:sp>
      <p:sp>
        <p:nvSpPr>
          <p:cNvPr id="16" name="Oval 15"/>
          <p:cNvSpPr/>
          <p:nvPr/>
        </p:nvSpPr>
        <p:spPr>
          <a:xfrm>
            <a:off x="900000" y="3951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1999" y="3888000"/>
            <a:ext cx="766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Portugal seguia Regimentos próprios, não o Malleus</a:t>
            </a:r>
          </a:p>
        </p:txBody>
      </p:sp>
      <p:sp>
        <p:nvSpPr>
          <p:cNvPr id="18" name="Oval 17"/>
          <p:cNvSpPr/>
          <p:nvPr/>
        </p:nvSpPr>
        <p:spPr>
          <a:xfrm>
            <a:off x="900000" y="4203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1999" y="4140000"/>
            <a:ext cx="766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A trajetória de Cajada é ela mesma uma circulação forçada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4000" y="47835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6B6558"/>
                </a:solidFill>
                <a:latin typeface="Courier New"/>
              </a:rPr>
              <a:t>11  / 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88000"/>
            <a:ext cx="72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09A8C"/>
                </a:solidFill>
                <a:latin typeface="Courier New"/>
              </a:rPr>
              <a:t>X  —  GÊNERO E RAÇA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576000"/>
            <a:ext cx="7704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900000"/>
            <a:ext cx="72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E8E2D6"/>
                </a:solidFill>
                <a:latin typeface="Georgia"/>
              </a:rPr>
              <a:t>Dois vetores de construção do sujeito penal feminino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512000"/>
            <a:ext cx="36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D4A843"/>
                </a:solidFill>
                <a:latin typeface="Calibri"/>
              </a:rPr>
              <a:t>EUROPA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1728000"/>
            <a:ext cx="3600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872000"/>
            <a:ext cx="360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8E2D6"/>
                </a:solidFill>
                <a:latin typeface="Calibri"/>
              </a:rPr>
              <a:t>70–80% dos condenados
por bruxaria eram mulheres
Construção pelo vetor da
sexualidade desordenada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0000" y="1512000"/>
            <a:ext cx="36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D4A843"/>
                </a:solidFill>
                <a:latin typeface="Calibri"/>
              </a:rPr>
              <a:t>COLÔNIA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0000" y="1728000"/>
            <a:ext cx="3600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1872000"/>
            <a:ext cx="360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8E2D6"/>
                </a:solidFill>
                <a:latin typeface="Calibri"/>
              </a:rPr>
              <a:t>A partir do séc. XVII, acusações
recaem sobre mulheres negras,
mestiças e indígenas
Construção pelo vetor da
racialização das práticas religiosas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" y="3420000"/>
            <a:ext cx="38100" cy="54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000" y="3420000"/>
            <a:ext cx="7704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D4A843"/>
                </a:solidFill>
                <a:latin typeface="Georgia"/>
              </a:rPr>
              <a:t>Dois sistemas distintos de construção do sujeito penal feminino, separados por um oceano, produzindo efeitos estruturalmente análogos.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4000" y="47835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6B6558"/>
                </a:solidFill>
                <a:latin typeface="Courier New"/>
              </a:rPr>
              <a:t>12  / 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900000"/>
            <a:ext cx="72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 i="1">
                <a:solidFill>
                  <a:srgbClr val="D4A843"/>
                </a:solidFill>
                <a:latin typeface="Georgia"/>
              </a:rPr>
              <a:t>«Parece que tudo são embustes
e enganos as culpas desta ré.»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728000"/>
            <a:ext cx="72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8E2D6"/>
                </a:solidFill>
                <a:latin typeface="Georgia"/>
              </a:rPr>
              <a:t>E mesmo assim a condenam.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0000" y="2520000"/>
            <a:ext cx="6840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2700000"/>
            <a:ext cx="68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09A8C"/>
                </a:solidFill>
                <a:latin typeface="Calibri"/>
              </a:rPr>
              <a:t>A construção do tipo penal nunca é um ato puramente técnico.
É uma operação de poder que envolve escolhas sobre:</a:t>
            </a:r>
          </a:p>
        </p:txBody>
      </p:sp>
      <p:sp>
        <p:nvSpPr>
          <p:cNvPr id="6" name="Oval 5"/>
          <p:cNvSpPr/>
          <p:nvPr/>
        </p:nvSpPr>
        <p:spPr>
          <a:xfrm>
            <a:off x="1800000" y="3303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1999" y="3240000"/>
            <a:ext cx="51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Quem é o sujeito do crime</a:t>
            </a:r>
          </a:p>
        </p:txBody>
      </p:sp>
      <p:sp>
        <p:nvSpPr>
          <p:cNvPr id="8" name="Oval 7"/>
          <p:cNvSpPr/>
          <p:nvPr/>
        </p:nvSpPr>
        <p:spPr>
          <a:xfrm>
            <a:off x="1800000" y="3591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1999" y="3528000"/>
            <a:ext cx="51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O que conta como prova</a:t>
            </a:r>
          </a:p>
        </p:txBody>
      </p:sp>
      <p:sp>
        <p:nvSpPr>
          <p:cNvPr id="10" name="Oval 9"/>
          <p:cNvSpPr/>
          <p:nvPr/>
        </p:nvSpPr>
        <p:spPr>
          <a:xfrm>
            <a:off x="1800000" y="38795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1999" y="3816000"/>
            <a:ext cx="5148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E2D6"/>
                </a:solidFill>
                <a:latin typeface="Calibri"/>
              </a:rPr>
              <a:t>Qual autoridade tem jurisdição para decidir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4000" y="47835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6B6558"/>
                </a:solidFill>
                <a:latin typeface="Courier New"/>
              </a:rPr>
              <a:t>13  /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88000"/>
            <a:ext cx="72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09A8C"/>
                </a:solidFill>
                <a:latin typeface="Courier New"/>
              </a:rPr>
              <a:t>  —  QUESTÕES PARA DISCUSSÃO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576000"/>
            <a:ext cx="7704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007999"/>
            <a:ext cx="9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B8860B"/>
                </a:solidFill>
                <a:latin typeface="Georg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0000" y="1007999"/>
            <a:ext cx="64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4A843"/>
                </a:solidFill>
                <a:latin typeface="Calibri"/>
              </a:rPr>
              <a:t>Negociação dentro da hegemonia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1223999"/>
            <a:ext cx="64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E2D6"/>
                </a:solidFill>
                <a:latin typeface="Calibri"/>
              </a:rPr>
              <a:t>O caso Cajada complexifica Sbriccoli?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799999"/>
            <a:ext cx="9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B8860B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0000" y="1799999"/>
            <a:ext cx="64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4A843"/>
                </a:solidFill>
                <a:latin typeface="Calibri"/>
              </a:rPr>
              <a:t>Tipo penal compósito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0000" y="2015999"/>
            <a:ext cx="64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E2D6"/>
                </a:solidFill>
                <a:latin typeface="Calibri"/>
              </a:rPr>
              <a:t>Paralelos com o crimen maiestatis ou a heresia?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591999"/>
            <a:ext cx="9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B8860B"/>
                </a:solidFill>
                <a:latin typeface="Georg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0000" y="2591999"/>
            <a:ext cx="64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4A843"/>
                </a:solidFill>
                <a:latin typeface="Calibri"/>
              </a:rPr>
              <a:t>Degredo como circulação forçada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0000" y="2807999"/>
            <a:ext cx="64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8E2D6"/>
                </a:solidFill>
                <a:latin typeface="Calibri"/>
              </a:rPr>
              <a:t>Que lógica punitiva sustenta esse modelo?</a:t>
            </a:r>
          </a:p>
        </p:txBody>
      </p:sp>
      <p:sp>
        <p:nvSpPr>
          <p:cNvPr id="13" name="Oval 12"/>
          <p:cNvSpPr/>
          <p:nvPr/>
        </p:nvSpPr>
        <p:spPr>
          <a:xfrm>
            <a:off x="8241800" y="12981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8500" y="1653700"/>
            <a:ext cx="50800" cy="508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9900" y="14251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40300" y="1399700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49800" y="1310800"/>
            <a:ext cx="50800" cy="508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000" y="3671999"/>
            <a:ext cx="7920000" cy="12700"/>
          </a:xfrm>
          <a:prstGeom prst="rect">
            <a:avLst/>
          </a:prstGeom>
          <a:solidFill>
            <a:srgbClr val="5A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3780000"/>
            <a:ext cx="79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6558"/>
                </a:solidFill>
                <a:latin typeface="Courier New"/>
              </a:rPr>
              <a:t>Fonte principal: BROEDEL (2003)  ·  ANTT, proc. n.º 10748  ·  SBRICCOLI (2011)  ·  SOUZA (1986)  ·  ARAÚJO (2016)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000" y="4031999"/>
            <a:ext cx="79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09A8C"/>
                </a:solidFill>
                <a:latin typeface="Calibri"/>
              </a:rPr>
              <a:t>Obrigada. Estou à disposição para perguntas.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4000" y="47835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6B6558"/>
                </a:solidFill>
                <a:latin typeface="Courier New"/>
              </a:rPr>
              <a:t>14  /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