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4" name="Text 1"/>
          <p:cNvSpPr/>
          <p:nvPr/>
        </p:nvSpPr>
        <p:spPr>
          <a:xfrm>
            <a:off x="4206240" y="731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#05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206240" y="1188720"/>
            <a:ext cx="164592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" name="Text 3"/>
          <p:cNvSpPr/>
          <p:nvPr/>
        </p:nvSpPr>
        <p:spPr>
          <a:xfrm>
            <a:off x="4206240" y="1371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Malleus Maleficarum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206240" y="2057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Tortura e Processo nos Sistemas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Jurídicos da Igreja (séc. XVI)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31089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Fonte: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KRAMER, Heinrich; SPRENGER, James. Malleus Maleficarum. Speyer, 1487.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Historiografia: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MECCARELLI, Massimo. Tortura e processo nos sistemas jurídicos dos territórios da Igreja (séc. XVI).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062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do Direito Penal e da Justiça Criminal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PPGD/UFSC – 2026.1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Roteiro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14300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histórico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3533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ascensão do processo inquisitorial no tardo medievo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27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fonte: Malleus Maleficarum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3794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Autoria, estrutura tripartite, finalidade jurídica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12264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1122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III: O processo penal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32257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Tortura, confissão, procedimentos legais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96896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596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Historiografia: Meccarelli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8072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Tortura e processo nos territórios da Igreja (séc. XVI)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081528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0815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com a historiografia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2918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Sbriccoli, Zorzi, Alessi, Martyn e o arbitrium procedendi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56616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da Rosa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776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inquisitorial no cinema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050792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0507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 questões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26110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para debate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histórico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ascensão do processo inquisitorial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séc. XI–XII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417320"/>
            <a:ext cx="22860" cy="457200"/>
          </a:xfrm>
          <a:prstGeom prst="rect">
            <a:avLst/>
          </a:prstGeom>
          <a:solidFill>
            <a:srgbClr val="3D383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3716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 do processo inquisitorial no direito canônico. A accusatio, de caráter privado, revela-se insuficiente diante dos novos desafios de ordem pública (Sbriccoli).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1199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2057400"/>
            <a:ext cx="22860" cy="457200"/>
          </a:xfrm>
          <a:prstGeom prst="rect">
            <a:avLst/>
          </a:prstGeom>
          <a:solidFill>
            <a:srgbClr val="3D3830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0116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Decretais de Inocêncio III consolidam o procedimento per inquisitionem. A confissão torna-se regina probationum.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2697480"/>
            <a:ext cx="22860" cy="457200"/>
          </a:xfrm>
          <a:prstGeom prst="rect">
            <a:avLst/>
          </a:prstGeom>
          <a:solidFill>
            <a:srgbClr val="3D3830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26517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 Ad extirpanda de Inocêncio IV autoriza formalmente o uso da tortura judicial nos processos de heresia.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séc. XIII–XIV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3337560"/>
            <a:ext cx="22860" cy="457200"/>
          </a:xfrm>
          <a:prstGeom prst="rect">
            <a:avLst/>
          </a:prstGeom>
          <a:solidFill>
            <a:srgbClr val="3D3830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32918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italianas desenvolvem sistemas penais híbridos. A inquisitio substitui progressivamente a accusatio (Sbriccoli; Zorzi; Meccarelli).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1484–1487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3977640"/>
            <a:ext cx="22860" cy="457200"/>
          </a:xfrm>
          <a:prstGeom prst="rect">
            <a:avLst/>
          </a:prstGeom>
          <a:solidFill>
            <a:srgbClr val="3D383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39319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 Summis desiderantes affectibus (1484) e publicação do Malleus Maleficarum em Speyer (1486/87).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fonte: Malleus Maleficarum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Martelo das Feiticeiras” — Speyer, 1487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2A26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 e contexto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Heinrich Kramer (Henricus Institoris)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dominicano e inquisidor papal, é o autor principal. Jacob Sprenger, tradicionalmente creditado como coautor, teve papel controverso — sua inclusão pode ter servido para conferir autoridade teológica ao texto.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 escreveu após fracassar em processos contra bruxas em Innsbruck (1485), onde foi expulso pelo bispo local, que o chamou de “senil e louco”.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bula Summis desiderantes affectibus (1484) de Inocêncio VIII autorizou a perseguição, embora não endossasse o texto específico do Malleus.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2A261F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 e alcance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Inquisição rejeitou imediatamente os procedimentos legais recomendados por Kramer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 censurou o inquisidor poucos anos após a publicação. Foram os tribunais seculares — não os inquisitoriais — que recorreram ao Malleus (Gibbons).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edições entre 1486 e 1600. Aceito por católicos e protestantes como guia contra a bruxaria.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2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Estimam-se 110.000 julgamentos por bruxaria na Europa entre 1450–1750, com 40.000 a 60.000 execuções — 85% mulheres.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tripartite do Malleus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2A261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256032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 I — Demonologia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Argumentação teológica pela realidade da bruxaria. A descrença é condenada como heresia. Três elementos necessários: intenção maligna da bruxa, auxílio do Diabo e permissão de Deus.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09728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2A261F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09728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 II — Malefícios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173736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Compêndio de relatos sobre atividades de bruxas: pactos diabólicos, relações com demônios (incubi/succubi), transvecção (voo noturno) e metamorfose. Dimensão marcadamente misógina.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2A261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2505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 III — Processo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73736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processual para juízes e inquisidores: iniciação do processo, coleta de acusações, interrogátorio (inclusive tortura), acusação formal. Eleva a feitiçaria ao status criminal de heresia. A pena de morte é apresentada como único remédio.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 III: Tortura e confissão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procedimento penal no Malleus Maleficarum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7863840" cy="1051560"/>
          </a:xfrm>
          <a:prstGeom prst="roundRect">
            <a:avLst>
              <a:gd name="adj" fmla="val 8696"/>
            </a:avLst>
          </a:prstGeom>
          <a:solidFill>
            <a:srgbClr val="2A261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54864" cy="10515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7406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 note-se que, se ele confessar sob tortura, deverá depois ser conduzido a outro lugar, para que possa confirmar e certificar que não foi devido somente à força da tortura.”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Malleus Maleficarum, Pars III, Q. XIV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Tortura e engano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246888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 não apenas tortura física, mas também a decepção do acusado com falsas promessas de clemência.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8094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Continuação, não repetição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980944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Ficção jurídica: a tortura não pode ser “repetida” sem novas provas, mas pode ser “continuada” — contornando a restrição legal.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Heresia e pena capital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3493008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feitiçaria é elevada ao patamar da heresia. A pena de banimento do Canon Episcopi é descartada: a morte é o único remédio.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0507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Flexibilização probatória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4005072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testemunha pode depor contra a acusada. Mulheres que não chorassem no julgamento eram automaticamente consideradas bruxas.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Meccarelli: Tortura e processo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sistemas jurídicos dos territórios da Igreja (séc. XVI)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2A26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argumento central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Meccarelli analisa como a doutrina jurídica do século XVI articulou a tortura dentro dos sistemas processuais dos territórios eclesiásticos.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tortura não era um excesso arbitrário, mas um instrumento integrado à lógica do sistema probatório romano-canônico: a “prova plena” (confissão ou duas testemunhas oculares) era requisito para a condenação em crimes graves.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vista doutrinal revela a tentativa de racionalizar e limitar (ao menos formalmente) o uso da tortura — tensão entre eficácia e garantia.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2A261F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Arbitrium procedendi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Poder discricionário do juiz para modular o processo. Orientado pela conscientia publica iurium, não pela arbitrariedade.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Ordinarium / Extraordinarium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Dois pilares do ordo iudiciarius que coexistem dialeticamente. O extraordinarium permite a adaptação sem anular o ordinarium.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Poena extraordinaria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Aplicada diante de indícios convincentes, evitando tanto a tortura quanto a absolvição por insuficiência probatória.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Categorias doutrinais do processo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Meccarelli — A efetividade da justiça penal no tardo medievo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Implicação processual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 in criminalibus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Acordo em matéria criminal, legítimo em crimes de poenae sanguinis (exceto adultério).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9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Insere a negociação como desfecho legítimo do processo penal.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Acordo de paz, lícito in omni maleficio. Reduz sanções ao eliminar o rancor entre as partes.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9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Juiz pode impor ex officio para prevenir tumulto.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Absolutio condizionata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Absolvição condicional (rebus sic stantibus, ab instantia, ad cautelam) — nível intermediário de punibilidade.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9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processo não se encerra com condenação ou absolvição plena.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Modulabilità dell'iter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Clausulae diminuentes iuris ordinem flexibilizam o rito, preservando momentos substanciais.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9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Garantia reside no juízo, não na forma rígida.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Poena extraordinaria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2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Aplicada diante de indícios convincentes, evitando tortura ou absolvição por falta de prova plena.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9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Permite resposta penal sem confissão obtida sob tortura.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Diálogo com a historiografia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Sbriccoli, Zorzi, Alessi, Martyn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SBRICCOLI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Legislation, Justice and Political Power in Italian Cities (1200–1400)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1280160"/>
            <a:ext cx="22860" cy="594360"/>
          </a:xfrm>
          <a:prstGeom prst="rect">
            <a:avLst/>
          </a:prstGeom>
          <a:solidFill>
            <a:srgbClr val="3D3830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23444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“justiça hegemônica” (adjudicativa, pública) e “justiça negociada” (composição entre partes). O processo penal no tardo medievo não transita linearmente do privado ao público; ambos coexistem.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ZORZI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penal e poderes urbanos na Itália comunal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2103120"/>
            <a:ext cx="22860" cy="594360"/>
          </a:xfrm>
          <a:prstGeom prst="rect">
            <a:avLst/>
          </a:prstGeom>
          <a:solidFill>
            <a:srgbClr val="3D383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05740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negociação penal integra os sistemas de poder urbano. A legitimação jurídica opera no interior de práticas de composição que articulam poder político e justiça criminal.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direito penal moderno entre retribuição e reconciliação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2926080"/>
            <a:ext cx="22860" cy="594360"/>
          </a:xfrm>
          <a:prstGeom prst="rect">
            <a:avLst/>
          </a:prstGeom>
          <a:solidFill>
            <a:srgbClr val="3D3830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288036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entre lógica retributiva e mecanismos de reconciliação no direito penal moderno. A passagem do medievo à modernidade não é ruptura, mas rearticulação dessas lógicas.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MARTYN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Arbitrium to Legality?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3749040"/>
            <a:ext cx="22860" cy="594360"/>
          </a:xfrm>
          <a:prstGeom prst="rect">
            <a:avLst/>
          </a:prstGeom>
          <a:solidFill>
            <a:srgbClr val="3D3830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370332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Problematiza a passagem do arbitrium judicial ao princípio da legalidade. O arbitrium não é sinônimo de arbitrariedade, mas de discricionariedade estruturada.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Malleus e a historiografia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Malleus se insere no debate historiográfico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024128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2A26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98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Accusatio vs. Inquisitio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Malleus é produto da consolidação do processo inquisitorial (ex officio), que substitui a accusatio privada. Kramer utiliza a lógica inquisitorial canonista para legitimar procedimentos que a própria Inquisição rejeitou (Sbriccoli).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2A261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Tortura e prova legal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romano-canônico exigia “prova plena” (confissão ou duas testemunhas). A tortura era o mecanismo para suprir a lacuna probatória. O Malleus radicaliza esse dispositivo com ficções jurídicas como a “continuação” (Meccarelli; Langbein).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2A261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443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Arbitrium e legalidade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1546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Meccarelli e Martyn descrevem o arbitrium como discricionariedade estruturada, o Malleus oferece aos magistrados seculares um manual para exercê-lo sem os freios doutrinais do ius commune.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2A261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67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Justiça negociada vs. punitiva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977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Zorzi e Alessi revelam que o processo medieval comportava desfechos negociados (pax, transactio). O Malleus rejeita essa flexibilidade: não há reconciliação possível com a bruxa. A morte é o único remédio.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Nome da Rosa (1986)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inquisitorial no cinema — Umberto Eco / Jean-Jacques Annaud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2A26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filme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Ambientado em 1327, num mosteiro beneditino no norte da Itália. O franciscano Guilherme de Baskerville (Sean Connery) investiga assassinatos, enquanto o inquisidor Bernardo Gui conduz julgamentos por heresia.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filme dramatiza o confronto entre razão investigativa (método empírico de Guilherme) e procedimento inquisitorial (tortura e julgamento sumário de Gui).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jovem camponesa acusada de bruxaria ilustra a vulnerabilidade específica das mulheres perante o sistema inquisitorial.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2A261F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Articulação com as fontes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Procedimento inquisitorial: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representa a Inquisição papal pós-Inocêncio III. Seus métodos — interrogátorio ex officio, tortura, identidade oculta do acusador — correspondem ao sistema que o Malleus buscou sistematizar.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Arbitrium sem freios: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exerce um arbitrium sem os limites doutrinais descritos por Meccarelli — não há transactio, não há pax, não há absolutio condizionata.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Controle do saber: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queima dos livros e a perseguição do conhecimento remetem ao controle epistemológico que sustenta o processo inquisitorial.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Síntese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Malleus Maleficarum (1487) não é apenas um manual de caça às bruxas: é um documento jurídico que sistematiza procedimentos inquisitoriais e os oferece a tribunais seculares.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64208"/>
            <a:ext cx="54864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1848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obra radicaliza o sistema probatório romano-canônico, subvertendo seus próprios limites por meio de ficções jurídicas (“continuação” da tortura, flexibilização de testemunhos).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31136"/>
            <a:ext cx="54864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8541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historiografia (Meccarelli, Sbriccoli, Zorzi, Alessi) revela que o processo penal medieval comportava mecanismos de negociação e flexibilidade que o Malleus deliberadamente elimina.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798064"/>
            <a:ext cx="54864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5234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articulação entre arbitrium e legalidade (Martyn) ilumina o perigo da instrumentalização do poder discricionário quando desvinculado dos freios doutrinais do ius commune.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para debate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medida o Malleus representa uma ruptura ou uma radicalização do processo inquisitorial canônico?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2.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tensão entre arbitrium e legalidade no tardo medievo ressoa em debates contemporâneos sobre discricionariedade judicial?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Referências bibliográficas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06424"/>
            <a:ext cx="731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KRAMER, Heinrich; SPRENGER, James. Malleus Maleficarum. Speyer, 1487.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90472"/>
            <a:ext cx="731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3560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MECCARELLI, Massimo. Tortura e processo nos sistemas jurídicos dos territórios da Igreja: o ponto de vista doutrinal (século XVI). In: Id., Legalidade e Justiça Criminal. No prelo.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731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1965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MECCARELLI, Massimo. Le categorie dottrinali della procedura e l'effettività della giustizia penale nel tardo medioevo. Rome: EFR, 2007, p. 573–594.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731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0370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SBRICCOLI, Mario. Legislation, Justice and Political Power in Italian Cities, 1200–1400. In: Storia del diritto penale e della giustizia. T. I. Milano: Giuffrè, 2009, p. 47–73.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642616"/>
            <a:ext cx="731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58775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ZORZI, Andrea. Negociação penal, legitimação jurídica e poderes urbanos na Itália comunal. In: DAL RI JR.; SONTAG (org.). Belo Horizonte: Del Rey, 2011, p. 111–144.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026664"/>
            <a:ext cx="731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9718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ALESSI, Giorgia. O direito penal moderno entre retribuição e reconciliação. In: DAL RI JR.; SONTAG (org.). Belo Horizonte: Del Rey, 2011, p. 169–195.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410712"/>
            <a:ext cx="731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3558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MARTYN, Georges. Introduction: From Arbitrium to Legality? Berlin: Duncker &amp; Humboldt, 2013, p. 7–31.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794760"/>
            <a:ext cx="731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3989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BATISTA, Nilo. Matrizes Ibéricas do Sistema Penal Brasileiro – I. 2. ed. Rio de Janeiro: Revan, 2000.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178808"/>
            <a:ext cx="731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1239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ECO, Umberto. O Nome da Rosa. Filme: dir. Jean-Jacques Annaud, 1986.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 – PPGD/UFSC – 2026.1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4" name="Text 1"/>
          <p:cNvSpPr/>
          <p:nvPr/>
        </p:nvSpPr>
        <p:spPr>
          <a:xfrm>
            <a:off x="4206240" y="1371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Obrigada.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206240" y="2194560"/>
            <a:ext cx="13716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" name="Text 3"/>
          <p:cNvSpPr/>
          <p:nvPr/>
        </p:nvSpPr>
        <p:spPr>
          <a:xfrm>
            <a:off x="4206240" y="2560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DIR410346 – História do Direito Penal e da Justiça Criminal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PPGD/UFSC – 2026.1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Estudo de Caso #05: Malleus Maleficarum &amp; Tortura no Processo Penal</dc:title>
  <dc:subject>PptxGenJS Presentation</dc:subject>
  <dc:creator>DIR410346 – PPGD/UFSC</dc:creator>
  <cp:lastModifiedBy>DIR410346 – PPGD/UFSC</cp:lastModifiedBy>
  <cp:revision>1</cp:revision>
  <dcterms:created xsi:type="dcterms:W3CDTF">2026-04-05T22:50:40Z</dcterms:created>
  <dcterms:modified xsi:type="dcterms:W3CDTF">2026-04-05T22:50:40Z</dcterms:modified>
</cp:coreProperties>
</file>