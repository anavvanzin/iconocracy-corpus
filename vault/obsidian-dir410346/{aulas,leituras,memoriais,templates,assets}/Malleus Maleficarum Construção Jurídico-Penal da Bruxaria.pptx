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oco Gothic" pitchFamily="2" charset="0"/>
      <p:regular r:id="rId17"/>
    </p:embeddedFont>
    <p:embeddedFont>
      <p:font typeface="Coco Gothic Bold" pitchFamily="2" charset="0"/>
      <p:regular r:id="rId18"/>
      <p:bold r:id="rId19"/>
    </p:embeddedFont>
    <p:embeddedFont>
      <p:font typeface="Open Sans" panose="020B0606030504020204" pitchFamily="34" charset="0"/>
      <p:regular r:id="rId20"/>
    </p:embeddedFont>
    <p:embeddedFont>
      <p:font typeface="Vidaloka" panose="02000504000000020004" pitchFamily="2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58" autoAdjust="0"/>
  </p:normalViewPr>
  <p:slideViewPr>
    <p:cSldViewPr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83986" y="1028700"/>
            <a:ext cx="5142072" cy="8229600"/>
            <a:chOff x="0" y="0"/>
            <a:chExt cx="1354291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54291" cy="2167467"/>
            </a:xfrm>
            <a:custGeom>
              <a:avLst/>
              <a:gdLst/>
              <a:ahLst/>
              <a:cxnLst/>
              <a:rect l="l" t="t" r="r" b="b"/>
              <a:pathLst>
                <a:path w="1354291" h="2167467">
                  <a:moveTo>
                    <a:pt x="0" y="0"/>
                  </a:moveTo>
                  <a:lnTo>
                    <a:pt x="1354291" y="0"/>
                  </a:lnTo>
                  <a:lnTo>
                    <a:pt x="1354291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582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54291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940913" y="1028700"/>
            <a:ext cx="4801880" cy="8229600"/>
            <a:chOff x="0" y="0"/>
            <a:chExt cx="1264693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4693" cy="2167467"/>
            </a:xfrm>
            <a:custGeom>
              <a:avLst/>
              <a:gdLst/>
              <a:ahLst/>
              <a:cxnLst/>
              <a:rect l="l" t="t" r="r" b="b"/>
              <a:pathLst>
                <a:path w="1264693" h="2167467">
                  <a:moveTo>
                    <a:pt x="0" y="0"/>
                  </a:moveTo>
                  <a:lnTo>
                    <a:pt x="1264693" y="0"/>
                  </a:lnTo>
                  <a:lnTo>
                    <a:pt x="1264693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C5B6B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64693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15300" y="3600450"/>
            <a:ext cx="9144000" cy="3509569"/>
            <a:chOff x="0" y="0"/>
            <a:chExt cx="2408296" cy="9243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08296" cy="924331"/>
            </a:xfrm>
            <a:custGeom>
              <a:avLst/>
              <a:gdLst/>
              <a:ahLst/>
              <a:cxnLst/>
              <a:rect l="l" t="t" r="r" b="b"/>
              <a:pathLst>
                <a:path w="2408296" h="924331">
                  <a:moveTo>
                    <a:pt x="0" y="0"/>
                  </a:moveTo>
                  <a:lnTo>
                    <a:pt x="2408296" y="0"/>
                  </a:lnTo>
                  <a:lnTo>
                    <a:pt x="2408296" y="924331"/>
                  </a:lnTo>
                  <a:lnTo>
                    <a:pt x="0" y="924331"/>
                  </a:lnTo>
                  <a:close/>
                </a:path>
              </a:pathLst>
            </a:custGeom>
            <a:solidFill>
              <a:srgbClr val="FFFAF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408296" cy="962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627810" y="4934231"/>
            <a:ext cx="5383840" cy="421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673"/>
              </a:lnSpc>
            </a:pPr>
            <a:r>
              <a:rPr lang="en-US" sz="1521" b="1" spc="282">
                <a:solidFill>
                  <a:srgbClr val="05829A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A CONSTRUÇÃO DA BRUXARIA COMO CATEGORIA JURÍDICO-PENAL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75070" y="8822382"/>
            <a:ext cx="5736580" cy="51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320"/>
              </a:lnSpc>
            </a:pPr>
            <a:r>
              <a:rPr lang="en-US" sz="1200" spc="223">
                <a:solidFill>
                  <a:srgbClr val="05829A"/>
                </a:solidFill>
                <a:latin typeface="Coco Gothic"/>
                <a:ea typeface="Coco Gothic"/>
                <a:cs typeface="Coco Gothic"/>
                <a:sym typeface="Coco Gothic"/>
              </a:rPr>
              <a:t>"PARECE QUE TUDO SÃO EMBUSTES E ENGANOS AS CULPAS DESTA RÉ" — ANTT, INQUISIÇÃO DE LISBOA, PROCESSO Nº 10748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42793" y="5582181"/>
            <a:ext cx="7583182" cy="1365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273"/>
              </a:lnSpc>
            </a:pPr>
            <a:r>
              <a:rPr lang="en-US" sz="5859">
                <a:solidFill>
                  <a:srgbClr val="05829A"/>
                </a:solidFill>
                <a:latin typeface="Vidaloka"/>
                <a:ea typeface="Vidaloka"/>
                <a:cs typeface="Vidaloka"/>
                <a:sym typeface="Vidaloka"/>
              </a:rPr>
              <a:t>MALLEUS MALEFICARUM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5507010" y="1028700"/>
            <a:ext cx="1504640" cy="1504640"/>
            <a:chOff x="0" y="0"/>
            <a:chExt cx="396284" cy="39628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96284" cy="396284"/>
            </a:xfrm>
            <a:custGeom>
              <a:avLst/>
              <a:gdLst/>
              <a:ahLst/>
              <a:cxnLst/>
              <a:rect l="l" t="t" r="r" b="b"/>
              <a:pathLst>
                <a:path w="396284" h="396284">
                  <a:moveTo>
                    <a:pt x="0" y="0"/>
                  </a:moveTo>
                  <a:lnTo>
                    <a:pt x="396284" y="0"/>
                  </a:lnTo>
                  <a:lnTo>
                    <a:pt x="396284" y="396284"/>
                  </a:lnTo>
                  <a:lnTo>
                    <a:pt x="0" y="396284"/>
                  </a:lnTo>
                  <a:close/>
                </a:path>
              </a:pathLst>
            </a:custGeom>
            <a:solidFill>
              <a:srgbClr val="0582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96284" cy="434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5819326" y="1404620"/>
            <a:ext cx="876313" cy="885579"/>
          </a:xfrm>
          <a:custGeom>
            <a:avLst/>
            <a:gdLst/>
            <a:ahLst/>
            <a:cxnLst/>
            <a:rect l="l" t="t" r="r" b="b"/>
            <a:pathLst>
              <a:path w="876313" h="885579">
                <a:moveTo>
                  <a:pt x="0" y="0"/>
                </a:moveTo>
                <a:lnTo>
                  <a:pt x="876313" y="0"/>
                </a:lnTo>
                <a:lnTo>
                  <a:pt x="876313" y="885579"/>
                </a:lnTo>
                <a:lnTo>
                  <a:pt x="0" y="885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028700" y="1028700"/>
            <a:ext cx="7086600" cy="8229600"/>
          </a:xfrm>
          <a:custGeom>
            <a:avLst/>
            <a:gdLst/>
            <a:ahLst/>
            <a:cxnLst/>
            <a:rect l="l" t="t" r="r" b="b"/>
            <a:pathLst>
              <a:path w="7086600" h="8229600">
                <a:moveTo>
                  <a:pt x="0" y="0"/>
                </a:moveTo>
                <a:lnTo>
                  <a:pt x="7086600" y="0"/>
                </a:lnTo>
                <a:lnTo>
                  <a:pt x="7086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237" b="-323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4572000" y="1012584"/>
            <a:ext cx="3543300" cy="3903065"/>
            <a:chOff x="0" y="0"/>
            <a:chExt cx="933215" cy="102796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33215" cy="1027968"/>
            </a:xfrm>
            <a:custGeom>
              <a:avLst/>
              <a:gdLst/>
              <a:ahLst/>
              <a:cxnLst/>
              <a:rect l="l" t="t" r="r" b="b"/>
              <a:pathLst>
                <a:path w="933215" h="1027968">
                  <a:moveTo>
                    <a:pt x="0" y="0"/>
                  </a:moveTo>
                  <a:lnTo>
                    <a:pt x="933215" y="0"/>
                  </a:lnTo>
                  <a:lnTo>
                    <a:pt x="933215" y="1027968"/>
                  </a:lnTo>
                  <a:lnTo>
                    <a:pt x="0" y="1027968"/>
                  </a:lnTo>
                  <a:close/>
                </a:path>
              </a:pathLst>
            </a:custGeom>
            <a:solidFill>
              <a:srgbClr val="C5B6B0">
                <a:alpha val="5882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933215" cy="1066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64238" y="4931765"/>
            <a:ext cx="3543300" cy="4326535"/>
            <a:chOff x="0" y="0"/>
            <a:chExt cx="933215" cy="113949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33215" cy="1139499"/>
            </a:xfrm>
            <a:custGeom>
              <a:avLst/>
              <a:gdLst/>
              <a:ahLst/>
              <a:cxnLst/>
              <a:rect l="l" t="t" r="r" b="b"/>
              <a:pathLst>
                <a:path w="933215" h="1139499">
                  <a:moveTo>
                    <a:pt x="0" y="0"/>
                  </a:moveTo>
                  <a:lnTo>
                    <a:pt x="933215" y="0"/>
                  </a:lnTo>
                  <a:lnTo>
                    <a:pt x="933215" y="1139499"/>
                  </a:lnTo>
                  <a:lnTo>
                    <a:pt x="0" y="1139499"/>
                  </a:lnTo>
                  <a:close/>
                </a:path>
              </a:pathLst>
            </a:custGeom>
            <a:solidFill>
              <a:srgbClr val="05829A">
                <a:alpha val="3882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933215" cy="11775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42793" y="1028700"/>
            <a:ext cx="1683266" cy="4372506"/>
            <a:chOff x="0" y="0"/>
            <a:chExt cx="443329" cy="115160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43329" cy="1151607"/>
            </a:xfrm>
            <a:custGeom>
              <a:avLst/>
              <a:gdLst/>
              <a:ahLst/>
              <a:cxnLst/>
              <a:rect l="l" t="t" r="r" b="b"/>
              <a:pathLst>
                <a:path w="443329" h="1151607">
                  <a:moveTo>
                    <a:pt x="0" y="0"/>
                  </a:moveTo>
                  <a:lnTo>
                    <a:pt x="443329" y="0"/>
                  </a:lnTo>
                  <a:lnTo>
                    <a:pt x="443329" y="1151607"/>
                  </a:lnTo>
                  <a:lnTo>
                    <a:pt x="0" y="1151607"/>
                  </a:lnTo>
                  <a:close/>
                </a:path>
              </a:pathLst>
            </a:custGeom>
            <a:solidFill>
              <a:srgbClr val="C5B6B0">
                <a:alpha val="5882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443329" cy="1189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115300" y="5401206"/>
            <a:ext cx="1627493" cy="3857094"/>
            <a:chOff x="0" y="0"/>
            <a:chExt cx="428640" cy="101586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28640" cy="1015860"/>
            </a:xfrm>
            <a:custGeom>
              <a:avLst/>
              <a:gdLst/>
              <a:ahLst/>
              <a:cxnLst/>
              <a:rect l="l" t="t" r="r" b="b"/>
              <a:pathLst>
                <a:path w="428640" h="1015860">
                  <a:moveTo>
                    <a:pt x="0" y="0"/>
                  </a:moveTo>
                  <a:lnTo>
                    <a:pt x="428640" y="0"/>
                  </a:lnTo>
                  <a:lnTo>
                    <a:pt x="428640" y="1015860"/>
                  </a:lnTo>
                  <a:lnTo>
                    <a:pt x="0" y="1015860"/>
                  </a:lnTo>
                  <a:close/>
                </a:path>
              </a:pathLst>
            </a:custGeom>
            <a:solidFill>
              <a:srgbClr val="05829A">
                <a:alpha val="5882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428640" cy="1053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86305" y="1028700"/>
            <a:ext cx="4606637" cy="8229600"/>
            <a:chOff x="0" y="0"/>
            <a:chExt cx="1213271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3271" cy="2167467"/>
            </a:xfrm>
            <a:custGeom>
              <a:avLst/>
              <a:gdLst/>
              <a:ahLst/>
              <a:cxnLst/>
              <a:rect l="l" t="t" r="r" b="b"/>
              <a:pathLst>
                <a:path w="1213271" h="2167467">
                  <a:moveTo>
                    <a:pt x="0" y="0"/>
                  </a:moveTo>
                  <a:lnTo>
                    <a:pt x="1213271" y="0"/>
                  </a:lnTo>
                  <a:lnTo>
                    <a:pt x="1213271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582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13271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486859" y="1028700"/>
            <a:ext cx="4548443" cy="8229600"/>
          </a:xfrm>
          <a:custGeom>
            <a:avLst/>
            <a:gdLst/>
            <a:ahLst/>
            <a:cxnLst/>
            <a:rect l="l" t="t" r="r" b="b"/>
            <a:pathLst>
              <a:path w="4548443" h="8229600">
                <a:moveTo>
                  <a:pt x="0" y="0"/>
                </a:moveTo>
                <a:lnTo>
                  <a:pt x="4548443" y="0"/>
                </a:lnTo>
                <a:lnTo>
                  <a:pt x="454844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65" r="-156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9144000" y="1028700"/>
            <a:ext cx="2142305" cy="4807585"/>
            <a:chOff x="0" y="0"/>
            <a:chExt cx="564228" cy="126619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4228" cy="1266195"/>
            </a:xfrm>
            <a:custGeom>
              <a:avLst/>
              <a:gdLst/>
              <a:ahLst/>
              <a:cxnLst/>
              <a:rect l="l" t="t" r="r" b="b"/>
              <a:pathLst>
                <a:path w="564228" h="1266195">
                  <a:moveTo>
                    <a:pt x="0" y="0"/>
                  </a:moveTo>
                  <a:lnTo>
                    <a:pt x="564228" y="0"/>
                  </a:lnTo>
                  <a:lnTo>
                    <a:pt x="564228" y="1266195"/>
                  </a:lnTo>
                  <a:lnTo>
                    <a:pt x="0" y="1266195"/>
                  </a:lnTo>
                  <a:close/>
                </a:path>
              </a:pathLst>
            </a:custGeom>
            <a:solidFill>
              <a:srgbClr val="C5B6B0">
                <a:alpha val="6078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64228" cy="1304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286305" y="5836285"/>
            <a:ext cx="5748997" cy="3422015"/>
            <a:chOff x="0" y="0"/>
            <a:chExt cx="1514139" cy="9012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14139" cy="901271"/>
            </a:xfrm>
            <a:custGeom>
              <a:avLst/>
              <a:gdLst/>
              <a:ahLst/>
              <a:cxnLst/>
              <a:rect l="l" t="t" r="r" b="b"/>
              <a:pathLst>
                <a:path w="1514139" h="901271">
                  <a:moveTo>
                    <a:pt x="0" y="0"/>
                  </a:moveTo>
                  <a:lnTo>
                    <a:pt x="1514139" y="0"/>
                  </a:lnTo>
                  <a:lnTo>
                    <a:pt x="1514139" y="901271"/>
                  </a:lnTo>
                  <a:lnTo>
                    <a:pt x="0" y="901271"/>
                  </a:lnTo>
                  <a:close/>
                </a:path>
              </a:pathLst>
            </a:custGeom>
            <a:solidFill>
              <a:srgbClr val="C5B6B0">
                <a:alpha val="6078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514139" cy="939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238250"/>
            <a:ext cx="5785917" cy="2681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9"/>
              </a:lnSpc>
            </a:pPr>
            <a:r>
              <a:rPr lang="en-US" sz="7632">
                <a:solidFill>
                  <a:srgbClr val="05829A"/>
                </a:solidFill>
                <a:latin typeface="Vidaloka"/>
                <a:ea typeface="Vidaloka"/>
                <a:cs typeface="Vidaloka"/>
                <a:sym typeface="Vidaloka"/>
              </a:rPr>
              <a:t>A cena: Innsbruck, 1485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4289262"/>
            <a:ext cx="6260493" cy="4668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93"/>
              </a:lnSpc>
            </a:pPr>
            <a:r>
              <a:rPr lang="en-US" sz="2209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Em 1485, o inquisidor Heinrich Institoris conduziu um julgamento em Innsbruck contra Helena Scheuberin e outras mulheres acusadas de bruxaria. O processo enfrentou forte resistência do bispo local e dos comissários episcopais, que questionaram os métodos e as acusações do inquisidor. As controvérsias processuais culminaram no colapso do tribunal e na humilhação pública de Institoris. É dessa humilhação que nasce o Malleus Maleficarum — o manual que transformaria a perseguição às bruxas em sistema jurídico.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19814" y="5472052"/>
            <a:ext cx="6492240" cy="0"/>
          </a:xfrm>
          <a:prstGeom prst="line">
            <a:avLst/>
          </a:prstGeom>
          <a:ln w="38100" cap="flat">
            <a:solidFill>
              <a:srgbClr val="C5B6B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8819814" y="6633610"/>
            <a:ext cx="6492240" cy="0"/>
          </a:xfrm>
          <a:prstGeom prst="line">
            <a:avLst/>
          </a:prstGeom>
          <a:ln w="38100" cap="flat">
            <a:solidFill>
              <a:srgbClr val="C5B6B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8819814" y="7795168"/>
            <a:ext cx="6492240" cy="0"/>
          </a:xfrm>
          <a:prstGeom prst="line">
            <a:avLst/>
          </a:prstGeom>
          <a:ln w="38100" cap="flat">
            <a:solidFill>
              <a:srgbClr val="C5B6B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2037530" y="1028700"/>
            <a:ext cx="4582484" cy="8229600"/>
            <a:chOff x="0" y="0"/>
            <a:chExt cx="1206909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06909" cy="2167467"/>
            </a:xfrm>
            <a:custGeom>
              <a:avLst/>
              <a:gdLst/>
              <a:ahLst/>
              <a:cxnLst/>
              <a:rect l="l" t="t" r="r" b="b"/>
              <a:pathLst>
                <a:path w="1206909" h="2167467">
                  <a:moveTo>
                    <a:pt x="0" y="0"/>
                  </a:moveTo>
                  <a:lnTo>
                    <a:pt x="1206909" y="0"/>
                  </a:lnTo>
                  <a:lnTo>
                    <a:pt x="1206909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582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06909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4748644"/>
            <a:ext cx="4548443" cy="4509656"/>
          </a:xfrm>
          <a:custGeom>
            <a:avLst/>
            <a:gdLst/>
            <a:ahLst/>
            <a:cxnLst/>
            <a:rect l="l" t="t" r="r" b="b"/>
            <a:pathLst>
              <a:path w="4548443" h="4509656">
                <a:moveTo>
                  <a:pt x="0" y="0"/>
                </a:moveTo>
                <a:lnTo>
                  <a:pt x="4548443" y="0"/>
                </a:lnTo>
                <a:lnTo>
                  <a:pt x="4548443" y="4509656"/>
                </a:lnTo>
                <a:lnTo>
                  <a:pt x="0" y="4509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30" b="-43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028700" y="1028700"/>
            <a:ext cx="4548443" cy="3719944"/>
            <a:chOff x="0" y="0"/>
            <a:chExt cx="1197944" cy="9797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97944" cy="979738"/>
            </a:xfrm>
            <a:custGeom>
              <a:avLst/>
              <a:gdLst/>
              <a:ahLst/>
              <a:cxnLst/>
              <a:rect l="l" t="t" r="r" b="b"/>
              <a:pathLst>
                <a:path w="1197944" h="979738">
                  <a:moveTo>
                    <a:pt x="0" y="0"/>
                  </a:moveTo>
                  <a:lnTo>
                    <a:pt x="1197944" y="0"/>
                  </a:lnTo>
                  <a:lnTo>
                    <a:pt x="1197944" y="979738"/>
                  </a:lnTo>
                  <a:lnTo>
                    <a:pt x="0" y="979738"/>
                  </a:lnTo>
                  <a:close/>
                </a:path>
              </a:pathLst>
            </a:custGeom>
            <a:solidFill>
              <a:srgbClr val="FAF0E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97944" cy="1017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400188" y="2470431"/>
            <a:ext cx="9331492" cy="1748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60"/>
              </a:lnSpc>
            </a:pPr>
            <a:r>
              <a:rPr lang="en-US" sz="7400">
                <a:solidFill>
                  <a:srgbClr val="C5B6B0"/>
                </a:solidFill>
                <a:latin typeface="Vidaloka"/>
                <a:ea typeface="Vidaloka"/>
                <a:cs typeface="Vidaloka"/>
                <a:sym typeface="Vidaloka"/>
              </a:rPr>
              <a:t>O Tipo Penal Compósito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09148" y="4557990"/>
            <a:ext cx="9513572" cy="542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67"/>
              </a:lnSpc>
              <a:spcBef>
                <a:spcPct val="0"/>
              </a:spcBef>
            </a:pPr>
            <a:r>
              <a:rPr lang="en-US" sz="2366" b="1" spc="440">
                <a:solidFill>
                  <a:srgbClr val="05829A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MALEFICIUM — O DANO MÁGICO CONCRETO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09148" y="5719548"/>
            <a:ext cx="9513572" cy="542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67"/>
              </a:lnSpc>
              <a:spcBef>
                <a:spcPct val="0"/>
              </a:spcBef>
            </a:pPr>
            <a:r>
              <a:rPr lang="en-US" sz="2366" b="1" spc="440">
                <a:solidFill>
                  <a:srgbClr val="05829A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HERESIA — A NEGAÇÃO DA FÉ CRISTÃ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09148" y="6881106"/>
            <a:ext cx="9513572" cy="542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67"/>
              </a:lnSpc>
              <a:spcBef>
                <a:spcPct val="0"/>
              </a:spcBef>
            </a:pPr>
            <a:r>
              <a:rPr lang="en-US" sz="2366" b="1" spc="440">
                <a:solidFill>
                  <a:srgbClr val="05829A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DEMONOLATRIA — A ADORAÇÃO DE DEMÔNIOS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09148" y="8042664"/>
            <a:ext cx="9513572" cy="542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67"/>
              </a:lnSpc>
              <a:spcBef>
                <a:spcPct val="0"/>
              </a:spcBef>
            </a:pPr>
            <a:r>
              <a:rPr lang="en-US" sz="2366" b="1" spc="440">
                <a:solidFill>
                  <a:srgbClr val="05829A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LAMIAE/STRIGAE E O PACTO COM O DIABO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80389" y="905347"/>
            <a:ext cx="4582484" cy="8352953"/>
            <a:chOff x="0" y="0"/>
            <a:chExt cx="1206909" cy="21999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6909" cy="2199955"/>
            </a:xfrm>
            <a:custGeom>
              <a:avLst/>
              <a:gdLst/>
              <a:ahLst/>
              <a:cxnLst/>
              <a:rect l="l" t="t" r="r" b="b"/>
              <a:pathLst>
                <a:path w="1206909" h="2199955">
                  <a:moveTo>
                    <a:pt x="0" y="0"/>
                  </a:moveTo>
                  <a:lnTo>
                    <a:pt x="1206909" y="0"/>
                  </a:lnTo>
                  <a:lnTo>
                    <a:pt x="1206909" y="2199955"/>
                  </a:lnTo>
                  <a:lnTo>
                    <a:pt x="0" y="2199955"/>
                  </a:lnTo>
                  <a:close/>
                </a:path>
              </a:pathLst>
            </a:custGeom>
            <a:solidFill>
              <a:srgbClr val="C5B6B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06909" cy="2238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905347"/>
            <a:ext cx="3280536" cy="8352953"/>
            <a:chOff x="0" y="0"/>
            <a:chExt cx="864010" cy="219995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64010" cy="2199955"/>
            </a:xfrm>
            <a:custGeom>
              <a:avLst/>
              <a:gdLst/>
              <a:ahLst/>
              <a:cxnLst/>
              <a:rect l="l" t="t" r="r" b="b"/>
              <a:pathLst>
                <a:path w="864010" h="2199955">
                  <a:moveTo>
                    <a:pt x="0" y="0"/>
                  </a:moveTo>
                  <a:lnTo>
                    <a:pt x="864010" y="0"/>
                  </a:lnTo>
                  <a:lnTo>
                    <a:pt x="864010" y="2199955"/>
                  </a:lnTo>
                  <a:lnTo>
                    <a:pt x="0" y="2199955"/>
                  </a:lnTo>
                  <a:close/>
                </a:path>
              </a:pathLst>
            </a:custGeom>
            <a:solidFill>
              <a:srgbClr val="0582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64010" cy="2238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309236" y="905347"/>
            <a:ext cx="4610766" cy="8352953"/>
            <a:chOff x="0" y="0"/>
            <a:chExt cx="1214358" cy="219995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4358" cy="2199955"/>
            </a:xfrm>
            <a:custGeom>
              <a:avLst/>
              <a:gdLst/>
              <a:ahLst/>
              <a:cxnLst/>
              <a:rect l="l" t="t" r="r" b="b"/>
              <a:pathLst>
                <a:path w="1214358" h="2199955">
                  <a:moveTo>
                    <a:pt x="0" y="0"/>
                  </a:moveTo>
                  <a:lnTo>
                    <a:pt x="1214358" y="0"/>
                  </a:lnTo>
                  <a:lnTo>
                    <a:pt x="1214358" y="2199955"/>
                  </a:lnTo>
                  <a:lnTo>
                    <a:pt x="0" y="2199955"/>
                  </a:lnTo>
                  <a:close/>
                </a:path>
              </a:pathLst>
            </a:custGeom>
            <a:solidFill>
              <a:srgbClr val="928D8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14358" cy="2238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309236" y="5836285"/>
            <a:ext cx="4610766" cy="3422015"/>
            <a:chOff x="0" y="0"/>
            <a:chExt cx="1214358" cy="9012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14358" cy="901271"/>
            </a:xfrm>
            <a:custGeom>
              <a:avLst/>
              <a:gdLst/>
              <a:ahLst/>
              <a:cxnLst/>
              <a:rect l="l" t="t" r="r" b="b"/>
              <a:pathLst>
                <a:path w="1214358" h="901271">
                  <a:moveTo>
                    <a:pt x="0" y="0"/>
                  </a:moveTo>
                  <a:lnTo>
                    <a:pt x="1214358" y="0"/>
                  </a:lnTo>
                  <a:lnTo>
                    <a:pt x="1214358" y="901271"/>
                  </a:lnTo>
                  <a:lnTo>
                    <a:pt x="0" y="901271"/>
                  </a:lnTo>
                  <a:close/>
                </a:path>
              </a:pathLst>
            </a:custGeom>
            <a:solidFill>
              <a:srgbClr val="05829A">
                <a:alpha val="6078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14358" cy="939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5836285"/>
            <a:ext cx="3280536" cy="3422015"/>
            <a:chOff x="0" y="0"/>
            <a:chExt cx="864010" cy="90127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64010" cy="901271"/>
            </a:xfrm>
            <a:custGeom>
              <a:avLst/>
              <a:gdLst/>
              <a:ahLst/>
              <a:cxnLst/>
              <a:rect l="l" t="t" r="r" b="b"/>
              <a:pathLst>
                <a:path w="864010" h="901271">
                  <a:moveTo>
                    <a:pt x="0" y="0"/>
                  </a:moveTo>
                  <a:lnTo>
                    <a:pt x="864010" y="0"/>
                  </a:lnTo>
                  <a:lnTo>
                    <a:pt x="864010" y="901271"/>
                  </a:lnTo>
                  <a:lnTo>
                    <a:pt x="0" y="901271"/>
                  </a:lnTo>
                  <a:close/>
                </a:path>
              </a:pathLst>
            </a:custGeom>
            <a:solidFill>
              <a:srgbClr val="FAF0E8">
                <a:alpha val="6078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64010" cy="939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991155" y="990398"/>
            <a:ext cx="7876815" cy="2681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6869"/>
              </a:lnSpc>
            </a:pPr>
            <a:r>
              <a:rPr lang="en-US" sz="7632" dirty="0">
                <a:solidFill>
                  <a:srgbClr val="05829A"/>
                </a:solidFill>
                <a:latin typeface="Vidaloka"/>
                <a:ea typeface="Vidaloka"/>
                <a:cs typeface="Vidaloka"/>
                <a:sym typeface="Vidaloka"/>
              </a:rPr>
              <a:t>duas </a:t>
            </a:r>
            <a:r>
              <a:rPr lang="en-US" sz="7632" dirty="0" err="1">
                <a:solidFill>
                  <a:srgbClr val="05829A"/>
                </a:solidFill>
                <a:latin typeface="Vidaloka"/>
                <a:ea typeface="Vidaloka"/>
                <a:cs typeface="Vidaloka"/>
                <a:sym typeface="Vidaloka"/>
              </a:rPr>
              <a:t>epistemologias</a:t>
            </a:r>
            <a:r>
              <a:rPr lang="en-US" sz="7632" dirty="0">
                <a:solidFill>
                  <a:srgbClr val="05829A"/>
                </a:solidFill>
                <a:latin typeface="Vidaloka"/>
                <a:ea typeface="Vidaloka"/>
                <a:cs typeface="Vidaloka"/>
                <a:sym typeface="Vidaloka"/>
              </a:rPr>
              <a:t> </a:t>
            </a:r>
            <a:r>
              <a:rPr lang="en-US" sz="7632" dirty="0" err="1">
                <a:solidFill>
                  <a:srgbClr val="05829A"/>
                </a:solidFill>
                <a:latin typeface="Vidaloka"/>
                <a:ea typeface="Vidaloka"/>
                <a:cs typeface="Vidaloka"/>
                <a:sym typeface="Vidaloka"/>
              </a:rPr>
              <a:t>em</a:t>
            </a:r>
            <a:r>
              <a:rPr lang="en-US" sz="7632" dirty="0">
                <a:solidFill>
                  <a:srgbClr val="05829A"/>
                </a:solidFill>
                <a:latin typeface="Vidaloka"/>
                <a:ea typeface="Vidaloka"/>
                <a:cs typeface="Vidaloka"/>
                <a:sym typeface="Vidaloka"/>
              </a:rPr>
              <a:t> </a:t>
            </a:r>
            <a:r>
              <a:rPr lang="en-US" sz="7632" dirty="0" err="1">
                <a:solidFill>
                  <a:srgbClr val="05829A"/>
                </a:solidFill>
                <a:latin typeface="Vidaloka"/>
                <a:ea typeface="Vidaloka"/>
                <a:cs typeface="Vidaloka"/>
                <a:sym typeface="Vidaloka"/>
              </a:rPr>
              <a:t>colisão</a:t>
            </a:r>
            <a:endParaRPr lang="en-US" sz="7632" dirty="0">
              <a:solidFill>
                <a:srgbClr val="05829A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419390" y="3296617"/>
            <a:ext cx="2499157" cy="655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27"/>
              </a:lnSpc>
            </a:pPr>
            <a:r>
              <a:rPr lang="en-US" sz="2696">
                <a:solidFill>
                  <a:srgbClr val="FAF0E8"/>
                </a:solidFill>
                <a:latin typeface="Coco Gothic"/>
                <a:ea typeface="Coco Gothic"/>
                <a:cs typeface="Coco Gothic"/>
                <a:sym typeface="Coco Gothic"/>
              </a:rPr>
              <a:t>COMISSÁRIOS DO BISPO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19390" y="7241948"/>
            <a:ext cx="2499157" cy="655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27"/>
              </a:lnSpc>
            </a:pPr>
            <a:r>
              <a:rPr lang="en-US" sz="2696">
                <a:solidFill>
                  <a:srgbClr val="05829A"/>
                </a:solidFill>
                <a:latin typeface="Coco Gothic"/>
                <a:ea typeface="Coco Gothic"/>
                <a:cs typeface="Coco Gothic"/>
                <a:sym typeface="Coco Gothic"/>
              </a:rPr>
              <a:t>PROVA MATERIAL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80389" y="7241948"/>
            <a:ext cx="2499157" cy="655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27"/>
              </a:lnSpc>
            </a:pPr>
            <a:r>
              <a:rPr lang="en-US" sz="2696">
                <a:solidFill>
                  <a:srgbClr val="FAF0E8"/>
                </a:solidFill>
                <a:latin typeface="Coco Gothic"/>
                <a:ea typeface="Coco Gothic"/>
                <a:cs typeface="Coco Gothic"/>
                <a:sym typeface="Coco Gothic"/>
              </a:rPr>
              <a:t>FOCO NA SEXUALIDADE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65041" y="3296617"/>
            <a:ext cx="2499157" cy="655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27"/>
              </a:lnSpc>
            </a:pPr>
            <a:r>
              <a:rPr lang="en-US" sz="2696">
                <a:solidFill>
                  <a:srgbClr val="FAF0E8"/>
                </a:solidFill>
                <a:latin typeface="Coco Gothic"/>
                <a:ea typeface="Coco Gothic"/>
                <a:cs typeface="Coco Gothic"/>
                <a:sym typeface="Coco Gothic"/>
              </a:rPr>
              <a:t>INQUISIDOR INSTITORIS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74809" y="4279737"/>
            <a:ext cx="6260493" cy="5473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04"/>
              </a:lnSpc>
            </a:pP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Os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comissários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do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bispo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exigiam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prova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material,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admitiam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defesa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seguiam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processo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regular.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Institoris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por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sua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vez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focava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sexualidade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das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acusadas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eliminava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garantias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processuais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aplicava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procedimento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inquisitorial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sem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restrições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0" lvl="0" indent="0" algn="r">
              <a:lnSpc>
                <a:spcPts val="3304"/>
              </a:lnSpc>
            </a:pP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conceito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de arbitrium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iudicis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, o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arbítrio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do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juiz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, 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permitia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ampla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discricionariedade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avaliação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das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provas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condução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do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processo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0" lvl="0" indent="0" algn="r">
              <a:lnSpc>
                <a:spcPts val="3304"/>
              </a:lnSpc>
            </a:pP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Ou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seja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, a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absolvição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ocorre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porque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os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juízes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não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compartilham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definição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do </a:t>
            </a:r>
            <a:r>
              <a:rPr lang="en-US" sz="2360" dirty="0" err="1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tipo</a:t>
            </a:r>
            <a:r>
              <a:rPr lang="en-US" sz="2360" dirty="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 penal.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78254" y="1979787"/>
            <a:ext cx="9331492" cy="1101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14"/>
              </a:lnSpc>
            </a:pPr>
            <a:r>
              <a:rPr lang="en-US" sz="8905">
                <a:solidFill>
                  <a:srgbClr val="05829A"/>
                </a:solidFill>
                <a:latin typeface="Vidaloka"/>
                <a:ea typeface="Vidaloka"/>
                <a:cs typeface="Vidaloka"/>
                <a:sym typeface="Vidaloka"/>
              </a:rPr>
              <a:t>Travessia Atlântica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4569097"/>
            <a:ext cx="3594264" cy="4200197"/>
            <a:chOff x="0" y="0"/>
            <a:chExt cx="1021921" cy="1194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21921" cy="1194200"/>
            </a:xfrm>
            <a:custGeom>
              <a:avLst/>
              <a:gdLst/>
              <a:ahLst/>
              <a:cxnLst/>
              <a:rect l="l" t="t" r="r" b="b"/>
              <a:pathLst>
                <a:path w="1021921" h="1194200">
                  <a:moveTo>
                    <a:pt x="0" y="0"/>
                  </a:moveTo>
                  <a:lnTo>
                    <a:pt x="1021921" y="0"/>
                  </a:lnTo>
                  <a:lnTo>
                    <a:pt x="1021921" y="1194200"/>
                  </a:lnTo>
                  <a:lnTo>
                    <a:pt x="0" y="1194200"/>
                  </a:lnTo>
                  <a:close/>
                </a:path>
              </a:pathLst>
            </a:custGeom>
            <a:solidFill>
              <a:srgbClr val="0582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71450"/>
              <a:ext cx="1021921" cy="136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2571365"/>
            <a:ext cx="2568418" cy="171200"/>
            <a:chOff x="0" y="0"/>
            <a:chExt cx="730252" cy="486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0252" cy="48676"/>
            </a:xfrm>
            <a:custGeom>
              <a:avLst/>
              <a:gdLst/>
              <a:ahLst/>
              <a:cxnLst/>
              <a:rect l="l" t="t" r="r" b="b"/>
              <a:pathLst>
                <a:path w="730252" h="48676">
                  <a:moveTo>
                    <a:pt x="0" y="0"/>
                  </a:moveTo>
                  <a:lnTo>
                    <a:pt x="730252" y="0"/>
                  </a:lnTo>
                  <a:lnTo>
                    <a:pt x="730252" y="48676"/>
                  </a:lnTo>
                  <a:lnTo>
                    <a:pt x="0" y="48676"/>
                  </a:lnTo>
                  <a:close/>
                </a:path>
              </a:pathLst>
            </a:custGeom>
            <a:solidFill>
              <a:srgbClr val="0582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71450"/>
              <a:ext cx="730252" cy="220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90882" y="2571365"/>
            <a:ext cx="2568418" cy="171200"/>
            <a:chOff x="0" y="0"/>
            <a:chExt cx="730252" cy="486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0252" cy="48676"/>
            </a:xfrm>
            <a:custGeom>
              <a:avLst/>
              <a:gdLst/>
              <a:ahLst/>
              <a:cxnLst/>
              <a:rect l="l" t="t" r="r" b="b"/>
              <a:pathLst>
                <a:path w="730252" h="48676">
                  <a:moveTo>
                    <a:pt x="0" y="0"/>
                  </a:moveTo>
                  <a:lnTo>
                    <a:pt x="730252" y="0"/>
                  </a:lnTo>
                  <a:lnTo>
                    <a:pt x="730252" y="48676"/>
                  </a:lnTo>
                  <a:lnTo>
                    <a:pt x="0" y="48676"/>
                  </a:lnTo>
                  <a:close/>
                </a:path>
              </a:pathLst>
            </a:custGeom>
            <a:solidFill>
              <a:srgbClr val="0582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71450"/>
              <a:ext cx="730252" cy="220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211175" y="4569097"/>
            <a:ext cx="3594264" cy="2653662"/>
            <a:chOff x="0" y="0"/>
            <a:chExt cx="1021921" cy="7544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21921" cy="754489"/>
            </a:xfrm>
            <a:custGeom>
              <a:avLst/>
              <a:gdLst/>
              <a:ahLst/>
              <a:cxnLst/>
              <a:rect l="l" t="t" r="r" b="b"/>
              <a:pathLst>
                <a:path w="1021921" h="754489">
                  <a:moveTo>
                    <a:pt x="0" y="0"/>
                  </a:moveTo>
                  <a:lnTo>
                    <a:pt x="1021921" y="0"/>
                  </a:lnTo>
                  <a:lnTo>
                    <a:pt x="1021921" y="754489"/>
                  </a:lnTo>
                  <a:lnTo>
                    <a:pt x="0" y="754489"/>
                  </a:lnTo>
                  <a:close/>
                </a:path>
              </a:pathLst>
            </a:custGeom>
            <a:solidFill>
              <a:srgbClr val="C5B6B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21921" cy="792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665036" y="4569097"/>
            <a:ext cx="3594264" cy="2653662"/>
            <a:chOff x="0" y="0"/>
            <a:chExt cx="1021921" cy="75448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21921" cy="754489"/>
            </a:xfrm>
            <a:custGeom>
              <a:avLst/>
              <a:gdLst/>
              <a:ahLst/>
              <a:cxnLst/>
              <a:rect l="l" t="t" r="r" b="b"/>
              <a:pathLst>
                <a:path w="1021921" h="754489">
                  <a:moveTo>
                    <a:pt x="0" y="0"/>
                  </a:moveTo>
                  <a:lnTo>
                    <a:pt x="1021921" y="0"/>
                  </a:lnTo>
                  <a:lnTo>
                    <a:pt x="1021921" y="754489"/>
                  </a:lnTo>
                  <a:lnTo>
                    <a:pt x="0" y="754489"/>
                  </a:lnTo>
                  <a:close/>
                </a:path>
              </a:pathLst>
            </a:custGeom>
            <a:solidFill>
              <a:srgbClr val="C5B6B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21921" cy="792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375228" y="4569097"/>
            <a:ext cx="3594264" cy="4200197"/>
            <a:chOff x="0" y="0"/>
            <a:chExt cx="1021921" cy="1194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21921" cy="1194200"/>
            </a:xfrm>
            <a:custGeom>
              <a:avLst/>
              <a:gdLst/>
              <a:ahLst/>
              <a:cxnLst/>
              <a:rect l="l" t="t" r="r" b="b"/>
              <a:pathLst>
                <a:path w="1021921" h="1194200">
                  <a:moveTo>
                    <a:pt x="0" y="0"/>
                  </a:moveTo>
                  <a:lnTo>
                    <a:pt x="1021921" y="0"/>
                  </a:lnTo>
                  <a:lnTo>
                    <a:pt x="1021921" y="1194200"/>
                  </a:lnTo>
                  <a:lnTo>
                    <a:pt x="0" y="1194200"/>
                  </a:lnTo>
                  <a:close/>
                </a:path>
              </a:pathLst>
            </a:custGeom>
            <a:solidFill>
              <a:srgbClr val="0582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021921" cy="123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4085823" y="5834642"/>
            <a:ext cx="2752691" cy="45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96"/>
              </a:lnSpc>
            </a:pPr>
            <a:r>
              <a:rPr lang="en-US" sz="1966" b="1" spc="365">
                <a:solidFill>
                  <a:srgbClr val="FFFA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SALVADOR 1591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98078" y="7339476"/>
            <a:ext cx="3348564" cy="45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96"/>
              </a:lnSpc>
            </a:pPr>
            <a:r>
              <a:rPr lang="en-US" sz="1966" b="1" spc="365">
                <a:solidFill>
                  <a:srgbClr val="FFFA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COLÔNIA 1487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83264" y="6854194"/>
            <a:ext cx="2485136" cy="940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96"/>
              </a:lnSpc>
              <a:spcBef>
                <a:spcPct val="0"/>
              </a:spcBef>
            </a:pPr>
            <a:r>
              <a:rPr lang="en-US" sz="1966" b="1" u="none" strike="noStrike" spc="365">
                <a:solidFill>
                  <a:srgbClr val="FFFA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INNSBRUCK 1485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39650" y="5349360"/>
            <a:ext cx="3226381" cy="940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96"/>
              </a:lnSpc>
              <a:spcBef>
                <a:spcPct val="0"/>
              </a:spcBef>
            </a:pPr>
            <a:r>
              <a:rPr lang="en-US" sz="1966" b="1" u="none" strike="noStrike" spc="365">
                <a:solidFill>
                  <a:srgbClr val="FFFA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PUBLICAÇÃO DO MALLEUS</a:t>
            </a:r>
          </a:p>
        </p:txBody>
      </p:sp>
      <p:sp>
        <p:nvSpPr>
          <p:cNvPr id="25" name="Freeform 25"/>
          <p:cNvSpPr/>
          <p:nvPr/>
        </p:nvSpPr>
        <p:spPr>
          <a:xfrm>
            <a:off x="13665036" y="7222759"/>
            <a:ext cx="3594264" cy="1546535"/>
          </a:xfrm>
          <a:custGeom>
            <a:avLst/>
            <a:gdLst/>
            <a:ahLst/>
            <a:cxnLst/>
            <a:rect l="l" t="t" r="r" b="b"/>
            <a:pathLst>
              <a:path w="3594264" h="1546535">
                <a:moveTo>
                  <a:pt x="0" y="0"/>
                </a:moveTo>
                <a:lnTo>
                  <a:pt x="3594264" y="0"/>
                </a:lnTo>
                <a:lnTo>
                  <a:pt x="3594264" y="1546535"/>
                </a:lnTo>
                <a:lnTo>
                  <a:pt x="0" y="1546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236" b="-1623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9395989" y="4569097"/>
            <a:ext cx="3594264" cy="1546535"/>
          </a:xfrm>
          <a:custGeom>
            <a:avLst/>
            <a:gdLst/>
            <a:ahLst/>
            <a:cxnLst/>
            <a:rect l="l" t="t" r="r" b="b"/>
            <a:pathLst>
              <a:path w="3594264" h="1546535">
                <a:moveTo>
                  <a:pt x="0" y="0"/>
                </a:moveTo>
                <a:lnTo>
                  <a:pt x="3594263" y="0"/>
                </a:lnTo>
                <a:lnTo>
                  <a:pt x="3594263" y="1546535"/>
                </a:lnTo>
                <a:lnTo>
                  <a:pt x="0" y="15465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236" b="-1623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045411" y="4569097"/>
            <a:ext cx="3594264" cy="1546535"/>
          </a:xfrm>
          <a:custGeom>
            <a:avLst/>
            <a:gdLst/>
            <a:ahLst/>
            <a:cxnLst/>
            <a:rect l="l" t="t" r="r" b="b"/>
            <a:pathLst>
              <a:path w="3594264" h="1546535">
                <a:moveTo>
                  <a:pt x="0" y="0"/>
                </a:moveTo>
                <a:lnTo>
                  <a:pt x="3594264" y="0"/>
                </a:lnTo>
                <a:lnTo>
                  <a:pt x="3594264" y="1546535"/>
                </a:lnTo>
                <a:lnTo>
                  <a:pt x="0" y="15465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6236" b="-1623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5201964" y="7222759"/>
            <a:ext cx="3594264" cy="1546535"/>
          </a:xfrm>
          <a:custGeom>
            <a:avLst/>
            <a:gdLst/>
            <a:ahLst/>
            <a:cxnLst/>
            <a:rect l="l" t="t" r="r" b="b"/>
            <a:pathLst>
              <a:path w="3594264" h="1546535">
                <a:moveTo>
                  <a:pt x="0" y="0"/>
                </a:moveTo>
                <a:lnTo>
                  <a:pt x="3594264" y="0"/>
                </a:lnTo>
                <a:lnTo>
                  <a:pt x="3594264" y="1546535"/>
                </a:lnTo>
                <a:lnTo>
                  <a:pt x="0" y="15465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6236" b="-1623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80389" y="1028700"/>
            <a:ext cx="4582484" cy="8229600"/>
            <a:chOff x="0" y="0"/>
            <a:chExt cx="120690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6909" cy="2167467"/>
            </a:xfrm>
            <a:custGeom>
              <a:avLst/>
              <a:gdLst/>
              <a:ahLst/>
              <a:cxnLst/>
              <a:rect l="l" t="t" r="r" b="b"/>
              <a:pathLst>
                <a:path w="1206909" h="2167467">
                  <a:moveTo>
                    <a:pt x="0" y="0"/>
                  </a:moveTo>
                  <a:lnTo>
                    <a:pt x="1206909" y="0"/>
                  </a:lnTo>
                  <a:lnTo>
                    <a:pt x="1206909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582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06909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371559" y="1028700"/>
            <a:ext cx="4548443" cy="8229600"/>
          </a:xfrm>
          <a:custGeom>
            <a:avLst/>
            <a:gdLst/>
            <a:ahLst/>
            <a:cxnLst/>
            <a:rect l="l" t="t" r="r" b="b"/>
            <a:pathLst>
              <a:path w="4548443" h="8229600">
                <a:moveTo>
                  <a:pt x="0" y="0"/>
                </a:moveTo>
                <a:lnTo>
                  <a:pt x="4548443" y="0"/>
                </a:lnTo>
                <a:lnTo>
                  <a:pt x="454844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65" r="-156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028700" y="5836285"/>
            <a:ext cx="2142305" cy="3422015"/>
            <a:chOff x="0" y="0"/>
            <a:chExt cx="564228" cy="9012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4228" cy="901271"/>
            </a:xfrm>
            <a:custGeom>
              <a:avLst/>
              <a:gdLst/>
              <a:ahLst/>
              <a:cxnLst/>
              <a:rect l="l" t="t" r="r" b="b"/>
              <a:pathLst>
                <a:path w="564228" h="901271">
                  <a:moveTo>
                    <a:pt x="0" y="0"/>
                  </a:moveTo>
                  <a:lnTo>
                    <a:pt x="564228" y="0"/>
                  </a:lnTo>
                  <a:lnTo>
                    <a:pt x="564228" y="901271"/>
                  </a:lnTo>
                  <a:lnTo>
                    <a:pt x="0" y="901271"/>
                  </a:lnTo>
                  <a:close/>
                </a:path>
              </a:pathLst>
            </a:custGeom>
            <a:solidFill>
              <a:srgbClr val="928D8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64228" cy="939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171005" y="5836285"/>
            <a:ext cx="5748997" cy="3422015"/>
            <a:chOff x="0" y="0"/>
            <a:chExt cx="1514139" cy="9012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14139" cy="901271"/>
            </a:xfrm>
            <a:custGeom>
              <a:avLst/>
              <a:gdLst/>
              <a:ahLst/>
              <a:cxnLst/>
              <a:rect l="l" t="t" r="r" b="b"/>
              <a:pathLst>
                <a:path w="1514139" h="901271">
                  <a:moveTo>
                    <a:pt x="0" y="0"/>
                  </a:moveTo>
                  <a:lnTo>
                    <a:pt x="1514139" y="0"/>
                  </a:lnTo>
                  <a:lnTo>
                    <a:pt x="1514139" y="901271"/>
                  </a:lnTo>
                  <a:lnTo>
                    <a:pt x="0" y="901271"/>
                  </a:lnTo>
                  <a:close/>
                </a:path>
              </a:pathLst>
            </a:custGeom>
            <a:solidFill>
              <a:srgbClr val="05829A">
                <a:alpha val="6078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514139" cy="939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249385" y="1238250"/>
            <a:ext cx="5785917" cy="2681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869"/>
              </a:lnSpc>
            </a:pPr>
            <a:r>
              <a:rPr lang="en-US" sz="7632">
                <a:solidFill>
                  <a:srgbClr val="05829A"/>
                </a:solidFill>
                <a:latin typeface="Vidaloka"/>
                <a:ea typeface="Vidaloka"/>
                <a:cs typeface="Vidaloka"/>
                <a:sym typeface="Vidaloka"/>
              </a:rPr>
              <a:t>Maria Gonçalves</a:t>
            </a:r>
          </a:p>
          <a:p>
            <a:pPr marL="0" lvl="0" indent="0" algn="r">
              <a:lnSpc>
                <a:spcPts val="6869"/>
              </a:lnSpc>
            </a:pPr>
            <a:r>
              <a:rPr lang="en-US" sz="7632">
                <a:solidFill>
                  <a:srgbClr val="05829A"/>
                </a:solidFill>
                <a:latin typeface="Vidaloka"/>
                <a:ea typeface="Vidaloka"/>
                <a:cs typeface="Vidaloka"/>
                <a:sym typeface="Vidaloka"/>
              </a:rPr>
              <a:t>Cajada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74809" y="4279737"/>
            <a:ext cx="6260493" cy="4597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40"/>
              </a:lnSpc>
            </a:pPr>
            <a:r>
              <a:rPr lang="en-US" sz="2385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Conhecida como "Arde-lhe-o-Rabo", Maria Gonçalves Cajada tornou-se uma das figuras mais emblemáticas da Visitação do Santo Ofício à Bahia em 1591. Natural de Lisboa, estabeleceu-se em Salvador onde ganhou fama como curandeira e feiticeira. Seu processo, registrado nos autos da Inquisição de Lisboa sob o número 10748, revela a complexa teia de acusações que entrelaçavam práticas mágicas, sexualidade e transgressão social na colônia portuguesa.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250470" y="1028700"/>
            <a:ext cx="1008830" cy="8229600"/>
            <a:chOff x="0" y="0"/>
            <a:chExt cx="265700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5700" cy="2167467"/>
            </a:xfrm>
            <a:custGeom>
              <a:avLst/>
              <a:gdLst/>
              <a:ahLst/>
              <a:cxnLst/>
              <a:rect l="l" t="t" r="r" b="b"/>
              <a:pathLst>
                <a:path w="265700" h="2167467">
                  <a:moveTo>
                    <a:pt x="0" y="0"/>
                  </a:moveTo>
                  <a:lnTo>
                    <a:pt x="265700" y="0"/>
                  </a:lnTo>
                  <a:lnTo>
                    <a:pt x="265700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582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5700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15221770" cy="8229600"/>
            <a:chOff x="0" y="0"/>
            <a:chExt cx="4009026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09026" cy="2167467"/>
            </a:xfrm>
            <a:custGeom>
              <a:avLst/>
              <a:gdLst/>
              <a:ahLst/>
              <a:cxnLst/>
              <a:rect l="l" t="t" r="r" b="b"/>
              <a:pathLst>
                <a:path w="4009026" h="2167467">
                  <a:moveTo>
                    <a:pt x="0" y="0"/>
                  </a:moveTo>
                  <a:lnTo>
                    <a:pt x="4009026" y="0"/>
                  </a:lnTo>
                  <a:lnTo>
                    <a:pt x="40090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AF0E8">
                <a:alpha val="6588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0090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5143500"/>
            <a:ext cx="15221770" cy="4114800"/>
          </a:xfrm>
          <a:custGeom>
            <a:avLst/>
            <a:gdLst/>
            <a:ahLst/>
            <a:cxnLst/>
            <a:rect l="l" t="t" r="r" b="b"/>
            <a:pathLst>
              <a:path w="15221770" h="4114800">
                <a:moveTo>
                  <a:pt x="0" y="0"/>
                </a:moveTo>
                <a:lnTo>
                  <a:pt x="15221770" y="0"/>
                </a:lnTo>
                <a:lnTo>
                  <a:pt x="15221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429" b="-5542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028700" y="5143500"/>
            <a:ext cx="3573654" cy="4114800"/>
            <a:chOff x="0" y="0"/>
            <a:chExt cx="941209" cy="10837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41209" cy="1083733"/>
            </a:xfrm>
            <a:custGeom>
              <a:avLst/>
              <a:gdLst/>
              <a:ahLst/>
              <a:cxnLst/>
              <a:rect l="l" t="t" r="r" b="b"/>
              <a:pathLst>
                <a:path w="941209" h="1083733">
                  <a:moveTo>
                    <a:pt x="0" y="0"/>
                  </a:moveTo>
                  <a:lnTo>
                    <a:pt x="941209" y="0"/>
                  </a:lnTo>
                  <a:lnTo>
                    <a:pt x="941209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05829A">
                <a:alpha val="5686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41209" cy="1121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854024" y="1817041"/>
            <a:ext cx="5785917" cy="202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50"/>
              </a:lnSpc>
            </a:pPr>
            <a:r>
              <a:rPr lang="en-US" sz="8500">
                <a:solidFill>
                  <a:srgbClr val="05829A"/>
                </a:solidFill>
                <a:latin typeface="Vidaloka"/>
                <a:ea typeface="Vidaloka"/>
                <a:cs typeface="Vidaloka"/>
                <a:sym typeface="Vidaloka"/>
              </a:rPr>
              <a:t>O que dizem os autos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39585" y="2013407"/>
            <a:ext cx="6260493" cy="252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65"/>
              </a:lnSpc>
            </a:pPr>
            <a:r>
              <a:rPr lang="en-US" sz="2046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"Parece que tudo são embustes e enganos as culpas desta ré" — As testemunhas descrevem Maria Gonçalves como mulher de "má fama" e "língua solta". Os autos registram acusações de malefício, pacto diabólico e práticas de cura ilícitas. "Se o bispo tinha mitra também ela tinha mitra..." (ANTT, Processo 10748)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676816" y="1028700"/>
            <a:ext cx="4582484" cy="8229600"/>
            <a:chOff x="0" y="0"/>
            <a:chExt cx="120690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6909" cy="2167467"/>
            </a:xfrm>
            <a:custGeom>
              <a:avLst/>
              <a:gdLst/>
              <a:ahLst/>
              <a:cxnLst/>
              <a:rect l="l" t="t" r="r" b="b"/>
              <a:pathLst>
                <a:path w="1206909" h="2167467">
                  <a:moveTo>
                    <a:pt x="0" y="0"/>
                  </a:moveTo>
                  <a:lnTo>
                    <a:pt x="1206909" y="0"/>
                  </a:lnTo>
                  <a:lnTo>
                    <a:pt x="1206909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582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06909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676816" y="1028700"/>
            <a:ext cx="3573654" cy="4598572"/>
            <a:chOff x="0" y="0"/>
            <a:chExt cx="941209" cy="12111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1209" cy="1211147"/>
            </a:xfrm>
            <a:custGeom>
              <a:avLst/>
              <a:gdLst/>
              <a:ahLst/>
              <a:cxnLst/>
              <a:rect l="l" t="t" r="r" b="b"/>
              <a:pathLst>
                <a:path w="941209" h="1211147">
                  <a:moveTo>
                    <a:pt x="0" y="0"/>
                  </a:moveTo>
                  <a:lnTo>
                    <a:pt x="941209" y="0"/>
                  </a:lnTo>
                  <a:lnTo>
                    <a:pt x="941209" y="1211147"/>
                  </a:lnTo>
                  <a:lnTo>
                    <a:pt x="0" y="1211147"/>
                  </a:lnTo>
                  <a:close/>
                </a:path>
              </a:pathLst>
            </a:custGeom>
            <a:solidFill>
              <a:srgbClr val="C5B6B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41209" cy="1249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889498" y="5143500"/>
            <a:ext cx="6360972" cy="4114800"/>
          </a:xfrm>
          <a:custGeom>
            <a:avLst/>
            <a:gdLst/>
            <a:ahLst/>
            <a:cxnLst/>
            <a:rect l="l" t="t" r="r" b="b"/>
            <a:pathLst>
              <a:path w="6360972" h="4114800">
                <a:moveTo>
                  <a:pt x="0" y="0"/>
                </a:moveTo>
                <a:lnTo>
                  <a:pt x="6360972" y="0"/>
                </a:lnTo>
                <a:lnTo>
                  <a:pt x="63609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76" b="-207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9889498" y="1028700"/>
            <a:ext cx="2787318" cy="8229600"/>
            <a:chOff x="0" y="0"/>
            <a:chExt cx="734108" cy="21674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4108" cy="2167467"/>
            </a:xfrm>
            <a:custGeom>
              <a:avLst/>
              <a:gdLst/>
              <a:ahLst/>
              <a:cxnLst/>
              <a:rect l="l" t="t" r="r" b="b"/>
              <a:pathLst>
                <a:path w="734108" h="2167467">
                  <a:moveTo>
                    <a:pt x="0" y="0"/>
                  </a:moveTo>
                  <a:lnTo>
                    <a:pt x="734108" y="0"/>
                  </a:lnTo>
                  <a:lnTo>
                    <a:pt x="734108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AF0E8">
                <a:alpha val="6588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34108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238250"/>
            <a:ext cx="5785917" cy="2681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9"/>
              </a:lnSpc>
            </a:pPr>
            <a:r>
              <a:rPr lang="en-US" sz="7632">
                <a:solidFill>
                  <a:srgbClr val="05829A"/>
                </a:solidFill>
                <a:latin typeface="Vidaloka"/>
                <a:ea typeface="Vidaloka"/>
                <a:cs typeface="Vidaloka"/>
                <a:sym typeface="Vidaloka"/>
              </a:rPr>
              <a:t>A construção</a:t>
            </a:r>
          </a:p>
          <a:p>
            <a:pPr marL="0" lvl="0" indent="0" algn="l">
              <a:lnSpc>
                <a:spcPts val="6869"/>
              </a:lnSpc>
            </a:pPr>
            <a:r>
              <a:rPr lang="en-US" sz="7632">
                <a:solidFill>
                  <a:srgbClr val="05829A"/>
                </a:solidFill>
                <a:latin typeface="Vidaloka"/>
                <a:ea typeface="Vidaloka"/>
                <a:cs typeface="Vidaloka"/>
                <a:sym typeface="Vidaloka"/>
              </a:rPr>
              <a:t>jurídica da</a:t>
            </a:r>
          </a:p>
          <a:p>
            <a:pPr marL="0" lvl="0" indent="0" algn="l">
              <a:lnSpc>
                <a:spcPts val="6869"/>
              </a:lnSpc>
            </a:pPr>
            <a:r>
              <a:rPr lang="en-US" sz="7632">
                <a:solidFill>
                  <a:srgbClr val="05829A"/>
                </a:solidFill>
                <a:latin typeface="Vidaloka"/>
                <a:ea typeface="Vidaloka"/>
                <a:cs typeface="Vidaloka"/>
                <a:sym typeface="Vidaloka"/>
              </a:rPr>
              <a:t>bruxaria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4289262"/>
            <a:ext cx="6260493" cy="4691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2"/>
              </a:lnSpc>
            </a:pPr>
            <a:r>
              <a:rPr lang="en-US" sz="2059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A criação do "tipo penal bruxa" não foi um processo espontâneo, mas uma construção deliberada pelos inquisidores. A articulação de provas combinava testemunhos, denúncias anônimas e a interpretação de comportamentos cotidianos como evidências de pacto demoníaco. A confissão ocupava papel central no procedimento — obtida frequentemente sob tortura, legitimada pela Parte III do Malleus Maleficarum como manual prático. O inquisidor não buscava a verdade material, mas a confirmação de uma categoria jurídica pré-definida, transformando suspeitas em certezas processuais.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86305" y="1028700"/>
            <a:ext cx="4606637" cy="8229600"/>
            <a:chOff x="0" y="0"/>
            <a:chExt cx="1213271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3271" cy="2167467"/>
            </a:xfrm>
            <a:custGeom>
              <a:avLst/>
              <a:gdLst/>
              <a:ahLst/>
              <a:cxnLst/>
              <a:rect l="l" t="t" r="r" b="b"/>
              <a:pathLst>
                <a:path w="1213271" h="2167467">
                  <a:moveTo>
                    <a:pt x="0" y="0"/>
                  </a:moveTo>
                  <a:lnTo>
                    <a:pt x="1213271" y="0"/>
                  </a:lnTo>
                  <a:lnTo>
                    <a:pt x="1213271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582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13271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486859" y="1028700"/>
            <a:ext cx="4548443" cy="8229600"/>
          </a:xfrm>
          <a:custGeom>
            <a:avLst/>
            <a:gdLst/>
            <a:ahLst/>
            <a:cxnLst/>
            <a:rect l="l" t="t" r="r" b="b"/>
            <a:pathLst>
              <a:path w="4548443" h="8229600">
                <a:moveTo>
                  <a:pt x="0" y="0"/>
                </a:moveTo>
                <a:lnTo>
                  <a:pt x="4548443" y="0"/>
                </a:lnTo>
                <a:lnTo>
                  <a:pt x="454844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65" r="-156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9144000" y="1028700"/>
            <a:ext cx="2142305" cy="4807585"/>
            <a:chOff x="0" y="0"/>
            <a:chExt cx="564228" cy="126619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4228" cy="1266195"/>
            </a:xfrm>
            <a:custGeom>
              <a:avLst/>
              <a:gdLst/>
              <a:ahLst/>
              <a:cxnLst/>
              <a:rect l="l" t="t" r="r" b="b"/>
              <a:pathLst>
                <a:path w="564228" h="1266195">
                  <a:moveTo>
                    <a:pt x="0" y="0"/>
                  </a:moveTo>
                  <a:lnTo>
                    <a:pt x="564228" y="0"/>
                  </a:lnTo>
                  <a:lnTo>
                    <a:pt x="564228" y="1266195"/>
                  </a:lnTo>
                  <a:lnTo>
                    <a:pt x="0" y="1266195"/>
                  </a:lnTo>
                  <a:close/>
                </a:path>
              </a:pathLst>
            </a:custGeom>
            <a:solidFill>
              <a:srgbClr val="C5B6B0">
                <a:alpha val="6078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64228" cy="1304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286305" y="5836285"/>
            <a:ext cx="5748997" cy="3422015"/>
            <a:chOff x="0" y="0"/>
            <a:chExt cx="1514139" cy="9012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14139" cy="901271"/>
            </a:xfrm>
            <a:custGeom>
              <a:avLst/>
              <a:gdLst/>
              <a:ahLst/>
              <a:cxnLst/>
              <a:rect l="l" t="t" r="r" b="b"/>
              <a:pathLst>
                <a:path w="1514139" h="901271">
                  <a:moveTo>
                    <a:pt x="0" y="0"/>
                  </a:moveTo>
                  <a:lnTo>
                    <a:pt x="1514139" y="0"/>
                  </a:lnTo>
                  <a:lnTo>
                    <a:pt x="1514139" y="901271"/>
                  </a:lnTo>
                  <a:lnTo>
                    <a:pt x="0" y="901271"/>
                  </a:lnTo>
                  <a:close/>
                </a:path>
              </a:pathLst>
            </a:custGeom>
            <a:solidFill>
              <a:srgbClr val="C5B6B0">
                <a:alpha val="6078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514139" cy="939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276350"/>
            <a:ext cx="5785917" cy="2130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32"/>
              </a:lnSpc>
            </a:pPr>
            <a:r>
              <a:rPr lang="en-US" sz="8925">
                <a:solidFill>
                  <a:srgbClr val="05829A"/>
                </a:solidFill>
                <a:latin typeface="Vidaloka"/>
                <a:ea typeface="Vidaloka"/>
                <a:cs typeface="Vidaloka"/>
                <a:sym typeface="Vidaloka"/>
              </a:rPr>
              <a:t>O papel da sexualidade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4289262"/>
            <a:ext cx="6260493" cy="4990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4"/>
              </a:lnSpc>
            </a:pPr>
            <a:r>
              <a:rPr lang="en-US" sz="1895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A sexualidade desordenada constituía prova central para Institoris na construção da figura da bruxa. O Malleus Maleficarum associava sistematicamente as mulheres à fraqueza moral e à luxúria, estabelecendo estereótipos de gênero que fundamentavam juridicamente as acusações. A suposta relação carnal com demônios, os encontros noturnos e a sedução eram elementos recorrentes nos processos, transformando a moralidade sexual feminina em categoria probatória. Esta dimensão sexual do tipo penal revelava não apenas preconceitos teológicos, mas também mecanismos de controle social sobre o corpo e a autonomia das mulheres, com profundas implicações para o direito penal e inquisitorial da época.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19814" y="5472052"/>
            <a:ext cx="6492240" cy="0"/>
          </a:xfrm>
          <a:prstGeom prst="line">
            <a:avLst/>
          </a:prstGeom>
          <a:ln w="38100" cap="flat">
            <a:solidFill>
              <a:srgbClr val="C5B6B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8819814" y="6633610"/>
            <a:ext cx="6492240" cy="0"/>
          </a:xfrm>
          <a:prstGeom prst="line">
            <a:avLst/>
          </a:prstGeom>
          <a:ln w="38100" cap="flat">
            <a:solidFill>
              <a:srgbClr val="C5B6B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8819814" y="7795168"/>
            <a:ext cx="6492240" cy="0"/>
          </a:xfrm>
          <a:prstGeom prst="line">
            <a:avLst/>
          </a:prstGeom>
          <a:ln w="38100" cap="flat">
            <a:solidFill>
              <a:srgbClr val="C5B6B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2037530" y="1028700"/>
            <a:ext cx="4582484" cy="8229600"/>
            <a:chOff x="0" y="0"/>
            <a:chExt cx="1206909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06909" cy="2167467"/>
            </a:xfrm>
            <a:custGeom>
              <a:avLst/>
              <a:gdLst/>
              <a:ahLst/>
              <a:cxnLst/>
              <a:rect l="l" t="t" r="r" b="b"/>
              <a:pathLst>
                <a:path w="1206909" h="2167467">
                  <a:moveTo>
                    <a:pt x="0" y="0"/>
                  </a:moveTo>
                  <a:lnTo>
                    <a:pt x="1206909" y="0"/>
                  </a:lnTo>
                  <a:lnTo>
                    <a:pt x="1206909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582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06909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4748644"/>
            <a:ext cx="4548443" cy="4509656"/>
          </a:xfrm>
          <a:custGeom>
            <a:avLst/>
            <a:gdLst/>
            <a:ahLst/>
            <a:cxnLst/>
            <a:rect l="l" t="t" r="r" b="b"/>
            <a:pathLst>
              <a:path w="4548443" h="4509656">
                <a:moveTo>
                  <a:pt x="0" y="0"/>
                </a:moveTo>
                <a:lnTo>
                  <a:pt x="4548443" y="0"/>
                </a:lnTo>
                <a:lnTo>
                  <a:pt x="4548443" y="4509656"/>
                </a:lnTo>
                <a:lnTo>
                  <a:pt x="0" y="4509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30" b="-43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028700" y="1028700"/>
            <a:ext cx="4548443" cy="3719944"/>
            <a:chOff x="0" y="0"/>
            <a:chExt cx="1197944" cy="9797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97944" cy="979738"/>
            </a:xfrm>
            <a:custGeom>
              <a:avLst/>
              <a:gdLst/>
              <a:ahLst/>
              <a:cxnLst/>
              <a:rect l="l" t="t" r="r" b="b"/>
              <a:pathLst>
                <a:path w="1197944" h="979738">
                  <a:moveTo>
                    <a:pt x="0" y="0"/>
                  </a:moveTo>
                  <a:lnTo>
                    <a:pt x="1197944" y="0"/>
                  </a:lnTo>
                  <a:lnTo>
                    <a:pt x="1197944" y="979738"/>
                  </a:lnTo>
                  <a:lnTo>
                    <a:pt x="0" y="979738"/>
                  </a:lnTo>
                  <a:close/>
                </a:path>
              </a:pathLst>
            </a:custGeom>
            <a:solidFill>
              <a:srgbClr val="FAF0E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97944" cy="1017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400188" y="2460906"/>
            <a:ext cx="9331492" cy="166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48"/>
              </a:lnSpc>
            </a:pPr>
            <a:r>
              <a:rPr lang="en-US" sz="7053">
                <a:solidFill>
                  <a:srgbClr val="C5B6B0"/>
                </a:solidFill>
                <a:latin typeface="Vidaloka"/>
                <a:ea typeface="Vidaloka"/>
                <a:cs typeface="Vidaloka"/>
                <a:sym typeface="Vidaloka"/>
              </a:rPr>
              <a:t>procedimentos inquisitoriais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09148" y="4721080"/>
            <a:ext cx="9513572" cy="379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03"/>
              </a:lnSpc>
              <a:spcBef>
                <a:spcPct val="0"/>
              </a:spcBef>
            </a:pPr>
            <a:r>
              <a:rPr lang="en-US" sz="1660" b="1" spc="308">
                <a:solidFill>
                  <a:srgbClr val="05829A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ETAPAS DO JULGAMENTO SEGUNDO O MALLEUS MALEFICARUM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09148" y="5882638"/>
            <a:ext cx="9513572" cy="379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03"/>
              </a:lnSpc>
              <a:spcBef>
                <a:spcPct val="0"/>
              </a:spcBef>
            </a:pPr>
            <a:r>
              <a:rPr lang="en-US" sz="1660" b="1" spc="308">
                <a:solidFill>
                  <a:srgbClr val="05829A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GARANTIAS PROCESSUAIS AUSENTES OU SEVERAMENTE LIMITADAS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09148" y="7044196"/>
            <a:ext cx="9513572" cy="379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03"/>
              </a:lnSpc>
              <a:spcBef>
                <a:spcPct val="0"/>
              </a:spcBef>
            </a:pPr>
            <a:r>
              <a:rPr lang="en-US" sz="1660" b="1" spc="308">
                <a:solidFill>
                  <a:srgbClr val="05829A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CONFISSÃO OBTIDA POR TORTURA COMO PROVA CENTRAL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09148" y="8205754"/>
            <a:ext cx="9513572" cy="379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03"/>
              </a:lnSpc>
              <a:spcBef>
                <a:spcPct val="0"/>
              </a:spcBef>
            </a:pPr>
            <a:r>
              <a:rPr lang="en-US" sz="1660" b="1" spc="308">
                <a:solidFill>
                  <a:srgbClr val="05829A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MAIS DE 30 EDIÇÕES EM 200 ANOS DE DIFUSÃO DO MANUAL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78254" y="1979787"/>
            <a:ext cx="9331492" cy="2066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58"/>
              </a:lnSpc>
            </a:pPr>
            <a:r>
              <a:rPr lang="en-US" sz="8731">
                <a:solidFill>
                  <a:srgbClr val="05829A"/>
                </a:solidFill>
                <a:latin typeface="Vidaloka"/>
                <a:ea typeface="Vidaloka"/>
                <a:cs typeface="Vidaloka"/>
                <a:sym typeface="Vidaloka"/>
              </a:rPr>
              <a:t>impactos sociais e jurídicos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4569097"/>
            <a:ext cx="3594264" cy="4200197"/>
            <a:chOff x="0" y="0"/>
            <a:chExt cx="1021921" cy="1194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21921" cy="1194200"/>
            </a:xfrm>
            <a:custGeom>
              <a:avLst/>
              <a:gdLst/>
              <a:ahLst/>
              <a:cxnLst/>
              <a:rect l="l" t="t" r="r" b="b"/>
              <a:pathLst>
                <a:path w="1021921" h="1194200">
                  <a:moveTo>
                    <a:pt x="0" y="0"/>
                  </a:moveTo>
                  <a:lnTo>
                    <a:pt x="1021921" y="0"/>
                  </a:lnTo>
                  <a:lnTo>
                    <a:pt x="1021921" y="1194200"/>
                  </a:lnTo>
                  <a:lnTo>
                    <a:pt x="0" y="1194200"/>
                  </a:lnTo>
                  <a:close/>
                </a:path>
              </a:pathLst>
            </a:custGeom>
            <a:solidFill>
              <a:srgbClr val="0582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71450"/>
              <a:ext cx="1021921" cy="136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2571365"/>
            <a:ext cx="2568418" cy="171200"/>
            <a:chOff x="0" y="0"/>
            <a:chExt cx="730252" cy="486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0252" cy="48676"/>
            </a:xfrm>
            <a:custGeom>
              <a:avLst/>
              <a:gdLst/>
              <a:ahLst/>
              <a:cxnLst/>
              <a:rect l="l" t="t" r="r" b="b"/>
              <a:pathLst>
                <a:path w="730252" h="48676">
                  <a:moveTo>
                    <a:pt x="0" y="0"/>
                  </a:moveTo>
                  <a:lnTo>
                    <a:pt x="730252" y="0"/>
                  </a:lnTo>
                  <a:lnTo>
                    <a:pt x="730252" y="48676"/>
                  </a:lnTo>
                  <a:lnTo>
                    <a:pt x="0" y="48676"/>
                  </a:lnTo>
                  <a:close/>
                </a:path>
              </a:pathLst>
            </a:custGeom>
            <a:solidFill>
              <a:srgbClr val="0582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71450"/>
              <a:ext cx="730252" cy="220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90882" y="2571365"/>
            <a:ext cx="2568418" cy="171200"/>
            <a:chOff x="0" y="0"/>
            <a:chExt cx="730252" cy="486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0252" cy="48676"/>
            </a:xfrm>
            <a:custGeom>
              <a:avLst/>
              <a:gdLst/>
              <a:ahLst/>
              <a:cxnLst/>
              <a:rect l="l" t="t" r="r" b="b"/>
              <a:pathLst>
                <a:path w="730252" h="48676">
                  <a:moveTo>
                    <a:pt x="0" y="0"/>
                  </a:moveTo>
                  <a:lnTo>
                    <a:pt x="730252" y="0"/>
                  </a:lnTo>
                  <a:lnTo>
                    <a:pt x="730252" y="48676"/>
                  </a:lnTo>
                  <a:lnTo>
                    <a:pt x="0" y="48676"/>
                  </a:lnTo>
                  <a:close/>
                </a:path>
              </a:pathLst>
            </a:custGeom>
            <a:solidFill>
              <a:srgbClr val="0582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71450"/>
              <a:ext cx="730252" cy="220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211175" y="4569097"/>
            <a:ext cx="3594264" cy="2653662"/>
            <a:chOff x="0" y="0"/>
            <a:chExt cx="1021921" cy="7544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21921" cy="754489"/>
            </a:xfrm>
            <a:custGeom>
              <a:avLst/>
              <a:gdLst/>
              <a:ahLst/>
              <a:cxnLst/>
              <a:rect l="l" t="t" r="r" b="b"/>
              <a:pathLst>
                <a:path w="1021921" h="754489">
                  <a:moveTo>
                    <a:pt x="0" y="0"/>
                  </a:moveTo>
                  <a:lnTo>
                    <a:pt x="1021921" y="0"/>
                  </a:lnTo>
                  <a:lnTo>
                    <a:pt x="1021921" y="754489"/>
                  </a:lnTo>
                  <a:lnTo>
                    <a:pt x="0" y="754489"/>
                  </a:lnTo>
                  <a:close/>
                </a:path>
              </a:pathLst>
            </a:custGeom>
            <a:solidFill>
              <a:srgbClr val="C5B6B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21921" cy="792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665036" y="4569097"/>
            <a:ext cx="3594264" cy="2653662"/>
            <a:chOff x="0" y="0"/>
            <a:chExt cx="1021921" cy="75448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21921" cy="754489"/>
            </a:xfrm>
            <a:custGeom>
              <a:avLst/>
              <a:gdLst/>
              <a:ahLst/>
              <a:cxnLst/>
              <a:rect l="l" t="t" r="r" b="b"/>
              <a:pathLst>
                <a:path w="1021921" h="754489">
                  <a:moveTo>
                    <a:pt x="0" y="0"/>
                  </a:moveTo>
                  <a:lnTo>
                    <a:pt x="1021921" y="0"/>
                  </a:lnTo>
                  <a:lnTo>
                    <a:pt x="1021921" y="754489"/>
                  </a:lnTo>
                  <a:lnTo>
                    <a:pt x="0" y="754489"/>
                  </a:lnTo>
                  <a:close/>
                </a:path>
              </a:pathLst>
            </a:custGeom>
            <a:solidFill>
              <a:srgbClr val="C5B6B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21921" cy="792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375228" y="4569097"/>
            <a:ext cx="3594264" cy="4200197"/>
            <a:chOff x="0" y="0"/>
            <a:chExt cx="1021921" cy="1194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21921" cy="1194200"/>
            </a:xfrm>
            <a:custGeom>
              <a:avLst/>
              <a:gdLst/>
              <a:ahLst/>
              <a:cxnLst/>
              <a:rect l="l" t="t" r="r" b="b"/>
              <a:pathLst>
                <a:path w="1021921" h="1194200">
                  <a:moveTo>
                    <a:pt x="0" y="0"/>
                  </a:moveTo>
                  <a:lnTo>
                    <a:pt x="1021921" y="0"/>
                  </a:lnTo>
                  <a:lnTo>
                    <a:pt x="1021921" y="1194200"/>
                  </a:lnTo>
                  <a:lnTo>
                    <a:pt x="0" y="1194200"/>
                  </a:lnTo>
                  <a:close/>
                </a:path>
              </a:pathLst>
            </a:custGeom>
            <a:solidFill>
              <a:srgbClr val="0582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021921" cy="123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4085823" y="5662569"/>
            <a:ext cx="2752691" cy="62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3"/>
              </a:lnSpc>
            </a:pPr>
            <a:r>
              <a:rPr lang="en-US" sz="1317" b="1" spc="245">
                <a:solidFill>
                  <a:srgbClr val="FFFA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REPERCUSSÕES NAS COLÔNIAS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98078" y="7167402"/>
            <a:ext cx="3348564" cy="62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3"/>
              </a:lnSpc>
            </a:pPr>
            <a:r>
              <a:rPr lang="en-US" sz="1317" b="1" spc="245">
                <a:solidFill>
                  <a:srgbClr val="FFFA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CONSOLIDAÇÃO DO PODER INQUISITORIAL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83264" y="7167402"/>
            <a:ext cx="2485136" cy="62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3"/>
              </a:lnSpc>
              <a:spcBef>
                <a:spcPct val="0"/>
              </a:spcBef>
            </a:pPr>
            <a:r>
              <a:rPr lang="en-US" sz="1317" b="1" u="none" strike="noStrike" spc="245">
                <a:solidFill>
                  <a:srgbClr val="FFFA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CRIMINALIZAÇÃO DE PRÁTICAS POPULARES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39650" y="5662569"/>
            <a:ext cx="3226381" cy="62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3"/>
              </a:lnSpc>
              <a:spcBef>
                <a:spcPct val="0"/>
              </a:spcBef>
            </a:pPr>
            <a:r>
              <a:rPr lang="en-US" sz="1317" b="1" u="none" strike="noStrike" spc="245">
                <a:solidFill>
                  <a:srgbClr val="FFFA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TRANSFORMAÇÃO DA SOCIEDADE EUROPEIA</a:t>
            </a:r>
          </a:p>
        </p:txBody>
      </p:sp>
      <p:sp>
        <p:nvSpPr>
          <p:cNvPr id="25" name="Freeform 25"/>
          <p:cNvSpPr/>
          <p:nvPr/>
        </p:nvSpPr>
        <p:spPr>
          <a:xfrm>
            <a:off x="13665036" y="7222759"/>
            <a:ext cx="3594264" cy="1546535"/>
          </a:xfrm>
          <a:custGeom>
            <a:avLst/>
            <a:gdLst/>
            <a:ahLst/>
            <a:cxnLst/>
            <a:rect l="l" t="t" r="r" b="b"/>
            <a:pathLst>
              <a:path w="3594264" h="1546535">
                <a:moveTo>
                  <a:pt x="0" y="0"/>
                </a:moveTo>
                <a:lnTo>
                  <a:pt x="3594264" y="0"/>
                </a:lnTo>
                <a:lnTo>
                  <a:pt x="3594264" y="1546535"/>
                </a:lnTo>
                <a:lnTo>
                  <a:pt x="0" y="1546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236" b="-1623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9395989" y="4569097"/>
            <a:ext cx="3594264" cy="1546535"/>
          </a:xfrm>
          <a:custGeom>
            <a:avLst/>
            <a:gdLst/>
            <a:ahLst/>
            <a:cxnLst/>
            <a:rect l="l" t="t" r="r" b="b"/>
            <a:pathLst>
              <a:path w="3594264" h="1546535">
                <a:moveTo>
                  <a:pt x="0" y="0"/>
                </a:moveTo>
                <a:lnTo>
                  <a:pt x="3594263" y="0"/>
                </a:lnTo>
                <a:lnTo>
                  <a:pt x="3594263" y="1546535"/>
                </a:lnTo>
                <a:lnTo>
                  <a:pt x="0" y="15465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236" b="-1623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045411" y="4569097"/>
            <a:ext cx="3594264" cy="1546535"/>
          </a:xfrm>
          <a:custGeom>
            <a:avLst/>
            <a:gdLst/>
            <a:ahLst/>
            <a:cxnLst/>
            <a:rect l="l" t="t" r="r" b="b"/>
            <a:pathLst>
              <a:path w="3594264" h="1546535">
                <a:moveTo>
                  <a:pt x="0" y="0"/>
                </a:moveTo>
                <a:lnTo>
                  <a:pt x="3594264" y="0"/>
                </a:lnTo>
                <a:lnTo>
                  <a:pt x="3594264" y="1546535"/>
                </a:lnTo>
                <a:lnTo>
                  <a:pt x="0" y="15465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6236" b="-1623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5201964" y="7222759"/>
            <a:ext cx="3594264" cy="1546535"/>
          </a:xfrm>
          <a:custGeom>
            <a:avLst/>
            <a:gdLst/>
            <a:ahLst/>
            <a:cxnLst/>
            <a:rect l="l" t="t" r="r" b="b"/>
            <a:pathLst>
              <a:path w="3594264" h="1546535">
                <a:moveTo>
                  <a:pt x="0" y="0"/>
                </a:moveTo>
                <a:lnTo>
                  <a:pt x="3594264" y="0"/>
                </a:lnTo>
                <a:lnTo>
                  <a:pt x="3594264" y="1546535"/>
                </a:lnTo>
                <a:lnTo>
                  <a:pt x="0" y="15465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6236" b="-1623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676816" y="1028700"/>
            <a:ext cx="4582484" cy="8229600"/>
            <a:chOff x="0" y="0"/>
            <a:chExt cx="120690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6909" cy="2167467"/>
            </a:xfrm>
            <a:custGeom>
              <a:avLst/>
              <a:gdLst/>
              <a:ahLst/>
              <a:cxnLst/>
              <a:rect l="l" t="t" r="r" b="b"/>
              <a:pathLst>
                <a:path w="1206909" h="2167467">
                  <a:moveTo>
                    <a:pt x="0" y="0"/>
                  </a:moveTo>
                  <a:lnTo>
                    <a:pt x="1206909" y="0"/>
                  </a:lnTo>
                  <a:lnTo>
                    <a:pt x="1206909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582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06909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676816" y="1028700"/>
            <a:ext cx="3573654" cy="4598572"/>
            <a:chOff x="0" y="0"/>
            <a:chExt cx="941209" cy="12111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1209" cy="1211147"/>
            </a:xfrm>
            <a:custGeom>
              <a:avLst/>
              <a:gdLst/>
              <a:ahLst/>
              <a:cxnLst/>
              <a:rect l="l" t="t" r="r" b="b"/>
              <a:pathLst>
                <a:path w="941209" h="1211147">
                  <a:moveTo>
                    <a:pt x="0" y="0"/>
                  </a:moveTo>
                  <a:lnTo>
                    <a:pt x="941209" y="0"/>
                  </a:lnTo>
                  <a:lnTo>
                    <a:pt x="941209" y="1211147"/>
                  </a:lnTo>
                  <a:lnTo>
                    <a:pt x="0" y="1211147"/>
                  </a:lnTo>
                  <a:close/>
                </a:path>
              </a:pathLst>
            </a:custGeom>
            <a:solidFill>
              <a:srgbClr val="C5B6B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41209" cy="1249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889498" y="5143500"/>
            <a:ext cx="6360972" cy="4114800"/>
          </a:xfrm>
          <a:custGeom>
            <a:avLst/>
            <a:gdLst/>
            <a:ahLst/>
            <a:cxnLst/>
            <a:rect l="l" t="t" r="r" b="b"/>
            <a:pathLst>
              <a:path w="6360972" h="4114800">
                <a:moveTo>
                  <a:pt x="0" y="0"/>
                </a:moveTo>
                <a:lnTo>
                  <a:pt x="6360972" y="0"/>
                </a:lnTo>
                <a:lnTo>
                  <a:pt x="63609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76" b="-207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9889498" y="1028700"/>
            <a:ext cx="2787318" cy="8229600"/>
            <a:chOff x="0" y="0"/>
            <a:chExt cx="734108" cy="21674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4108" cy="2167467"/>
            </a:xfrm>
            <a:custGeom>
              <a:avLst/>
              <a:gdLst/>
              <a:ahLst/>
              <a:cxnLst/>
              <a:rect l="l" t="t" r="r" b="b"/>
              <a:pathLst>
                <a:path w="734108" h="2167467">
                  <a:moveTo>
                    <a:pt x="0" y="0"/>
                  </a:moveTo>
                  <a:lnTo>
                    <a:pt x="734108" y="0"/>
                  </a:lnTo>
                  <a:lnTo>
                    <a:pt x="734108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AF0E8">
                <a:alpha val="6588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34108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266825"/>
            <a:ext cx="5785917" cy="202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50"/>
              </a:lnSpc>
            </a:pPr>
            <a:r>
              <a:rPr lang="en-US" sz="8500">
                <a:solidFill>
                  <a:srgbClr val="05829A"/>
                </a:solidFill>
                <a:latin typeface="Vidaloka"/>
                <a:ea typeface="Vidaloka"/>
                <a:cs typeface="Vidaloka"/>
                <a:sym typeface="Vidaloka"/>
              </a:rPr>
              <a:t>A Inquisição</a:t>
            </a:r>
          </a:p>
          <a:p>
            <a:pPr marL="0" lvl="0" indent="0" algn="l">
              <a:lnSpc>
                <a:spcPts val="7650"/>
              </a:lnSpc>
            </a:pPr>
            <a:r>
              <a:rPr lang="en-US" sz="8500">
                <a:solidFill>
                  <a:srgbClr val="05829A"/>
                </a:solidFill>
                <a:latin typeface="Vidaloka"/>
                <a:ea typeface="Vidaloka"/>
                <a:cs typeface="Vidaloka"/>
                <a:sym typeface="Vidaloka"/>
              </a:rPr>
              <a:t>no Brasil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4289262"/>
            <a:ext cx="6260493" cy="4813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3"/>
              </a:lnSpc>
            </a:pPr>
            <a:r>
              <a:rPr lang="en-US" sz="2109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Diferentemente de Lima e México, o Brasil nunca teve um tribunal permanente da Inquisição. A atuação se dava por meio de Visitações — expedições periódicas de inquisidores enviados de Lisboa para investigar desvios da fé. A primeira grande Visitação ocorreu em 1591, chegando a Salvador e Pernambuco. Este sistema fragmentado criou uma dinâmica própria: denúncias acumuladas, confissões negociadas e uma justiça que operava por ciclos de presença e ausência. O impacto na vida colonial foi profundo, moldando comportamentos e consolidando o controle social através do medo.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5259210" cy="26666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59210" cy="2666642"/>
            </a:xfrm>
            <a:custGeom>
              <a:avLst/>
              <a:gdLst/>
              <a:ahLst/>
              <a:cxnLst/>
              <a:rect l="l" t="t" r="r" b="b"/>
              <a:pathLst>
                <a:path w="5259210" h="2666642">
                  <a:moveTo>
                    <a:pt x="0" y="0"/>
                  </a:moveTo>
                  <a:lnTo>
                    <a:pt x="5259210" y="0"/>
                  </a:lnTo>
                  <a:lnTo>
                    <a:pt x="5259210" y="2666642"/>
                  </a:lnTo>
                  <a:lnTo>
                    <a:pt x="0" y="2666642"/>
                  </a:lnTo>
                  <a:close/>
                </a:path>
              </a:pathLst>
            </a:custGeom>
            <a:solidFill>
              <a:srgbClr val="0582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259210" cy="2704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85173" y="2065263"/>
            <a:ext cx="5224990" cy="1372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02"/>
              </a:lnSpc>
            </a:pPr>
            <a:r>
              <a:rPr lang="en-US" sz="5780">
                <a:solidFill>
                  <a:srgbClr val="FAF0E8"/>
                </a:solidFill>
                <a:latin typeface="Vidaloka"/>
                <a:ea typeface="Vidaloka"/>
                <a:cs typeface="Vidaloka"/>
                <a:sym typeface="Vidaloka"/>
              </a:rPr>
              <a:t>Reflexões Historiográficas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077348" y="2846251"/>
            <a:ext cx="6613535" cy="47625"/>
            <a:chOff x="0" y="0"/>
            <a:chExt cx="1880360" cy="135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80360" cy="13541"/>
            </a:xfrm>
            <a:custGeom>
              <a:avLst/>
              <a:gdLst/>
              <a:ahLst/>
              <a:cxnLst/>
              <a:rect l="l" t="t" r="r" b="b"/>
              <a:pathLst>
                <a:path w="1880360" h="13541">
                  <a:moveTo>
                    <a:pt x="0" y="0"/>
                  </a:moveTo>
                  <a:lnTo>
                    <a:pt x="1880360" y="0"/>
                  </a:lnTo>
                  <a:lnTo>
                    <a:pt x="1880360" y="13541"/>
                  </a:lnTo>
                  <a:lnTo>
                    <a:pt x="0" y="13541"/>
                  </a:lnTo>
                  <a:close/>
                </a:path>
              </a:pathLst>
            </a:custGeom>
            <a:solidFill>
              <a:srgbClr val="FFFAF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71450"/>
              <a:ext cx="1880360" cy="184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385173" y="4345306"/>
            <a:ext cx="3216724" cy="3201869"/>
            <a:chOff x="0" y="0"/>
            <a:chExt cx="1042317" cy="103750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2317" cy="1037503"/>
            </a:xfrm>
            <a:custGeom>
              <a:avLst/>
              <a:gdLst/>
              <a:ahLst/>
              <a:cxnLst/>
              <a:rect l="l" t="t" r="r" b="b"/>
              <a:pathLst>
                <a:path w="1042317" h="1037503">
                  <a:moveTo>
                    <a:pt x="0" y="0"/>
                  </a:moveTo>
                  <a:lnTo>
                    <a:pt x="1042317" y="0"/>
                  </a:lnTo>
                  <a:lnTo>
                    <a:pt x="1042317" y="1037503"/>
                  </a:lnTo>
                  <a:lnTo>
                    <a:pt x="0" y="1037503"/>
                  </a:lnTo>
                  <a:close/>
                </a:path>
              </a:pathLst>
            </a:custGeom>
            <a:solidFill>
              <a:srgbClr val="FAF0E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42317" cy="10756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474158" y="4345306"/>
            <a:ext cx="3216724" cy="3201869"/>
            <a:chOff x="0" y="0"/>
            <a:chExt cx="1042317" cy="10375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42317" cy="1037503"/>
            </a:xfrm>
            <a:custGeom>
              <a:avLst/>
              <a:gdLst/>
              <a:ahLst/>
              <a:cxnLst/>
              <a:rect l="l" t="t" r="r" b="b"/>
              <a:pathLst>
                <a:path w="1042317" h="1037503">
                  <a:moveTo>
                    <a:pt x="0" y="0"/>
                  </a:moveTo>
                  <a:lnTo>
                    <a:pt x="1042317" y="0"/>
                  </a:lnTo>
                  <a:lnTo>
                    <a:pt x="1042317" y="1037503"/>
                  </a:lnTo>
                  <a:lnTo>
                    <a:pt x="0" y="1037503"/>
                  </a:lnTo>
                  <a:close/>
                </a:path>
              </a:pathLst>
            </a:custGeom>
            <a:solidFill>
              <a:srgbClr val="FAF0E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42317" cy="10756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429041" y="4345306"/>
            <a:ext cx="3216724" cy="3201869"/>
            <a:chOff x="0" y="0"/>
            <a:chExt cx="1042317" cy="103750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42317" cy="1037503"/>
            </a:xfrm>
            <a:custGeom>
              <a:avLst/>
              <a:gdLst/>
              <a:ahLst/>
              <a:cxnLst/>
              <a:rect l="l" t="t" r="r" b="b"/>
              <a:pathLst>
                <a:path w="1042317" h="1037503">
                  <a:moveTo>
                    <a:pt x="0" y="0"/>
                  </a:moveTo>
                  <a:lnTo>
                    <a:pt x="1042317" y="0"/>
                  </a:lnTo>
                  <a:lnTo>
                    <a:pt x="1042317" y="1037503"/>
                  </a:lnTo>
                  <a:lnTo>
                    <a:pt x="0" y="1037503"/>
                  </a:lnTo>
                  <a:close/>
                </a:path>
              </a:pathLst>
            </a:custGeom>
            <a:solidFill>
              <a:srgbClr val="FAF0E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42317" cy="10756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3650434" y="4556655"/>
            <a:ext cx="2686202" cy="2779171"/>
          </a:xfrm>
          <a:custGeom>
            <a:avLst/>
            <a:gdLst/>
            <a:ahLst/>
            <a:cxnLst/>
            <a:rect l="l" t="t" r="r" b="b"/>
            <a:pathLst>
              <a:path w="2686202" h="2779171">
                <a:moveTo>
                  <a:pt x="0" y="0"/>
                </a:moveTo>
                <a:lnTo>
                  <a:pt x="2686202" y="0"/>
                </a:lnTo>
                <a:lnTo>
                  <a:pt x="2686202" y="2779171"/>
                </a:lnTo>
                <a:lnTo>
                  <a:pt x="0" y="27791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30" r="-173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1739419" y="4556655"/>
            <a:ext cx="2686202" cy="2779171"/>
          </a:xfrm>
          <a:custGeom>
            <a:avLst/>
            <a:gdLst/>
            <a:ahLst/>
            <a:cxnLst/>
            <a:rect l="l" t="t" r="r" b="b"/>
            <a:pathLst>
              <a:path w="2686202" h="2779171">
                <a:moveTo>
                  <a:pt x="0" y="0"/>
                </a:moveTo>
                <a:lnTo>
                  <a:pt x="2686203" y="0"/>
                </a:lnTo>
                <a:lnTo>
                  <a:pt x="2686203" y="2779171"/>
                </a:lnTo>
                <a:lnTo>
                  <a:pt x="0" y="27791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30" r="-173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7694302" y="4556655"/>
            <a:ext cx="2686202" cy="2779171"/>
          </a:xfrm>
          <a:custGeom>
            <a:avLst/>
            <a:gdLst/>
            <a:ahLst/>
            <a:cxnLst/>
            <a:rect l="l" t="t" r="r" b="b"/>
            <a:pathLst>
              <a:path w="2686202" h="2779171">
                <a:moveTo>
                  <a:pt x="0" y="0"/>
                </a:moveTo>
                <a:lnTo>
                  <a:pt x="2686202" y="0"/>
                </a:lnTo>
                <a:lnTo>
                  <a:pt x="2686202" y="2779171"/>
                </a:lnTo>
                <a:lnTo>
                  <a:pt x="0" y="2779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30" r="-173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3020484" y="7819320"/>
            <a:ext cx="3946103" cy="36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11"/>
              </a:lnSpc>
            </a:pPr>
            <a:r>
              <a:rPr lang="en-US" sz="1837" b="1" spc="249">
                <a:solidFill>
                  <a:srgbClr val="FAF0E8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CARLO GINZBURG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64352" y="7819320"/>
            <a:ext cx="3946103" cy="36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11"/>
              </a:lnSpc>
            </a:pPr>
            <a:r>
              <a:rPr lang="en-US" sz="1837" b="1" spc="249">
                <a:solidFill>
                  <a:srgbClr val="FAF0E8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LAURA DE MELLO E SOUZA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10455" y="7819320"/>
            <a:ext cx="3946103" cy="36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11"/>
              </a:lnSpc>
            </a:pPr>
            <a:r>
              <a:rPr lang="en-US" sz="1837" b="1" spc="249">
                <a:solidFill>
                  <a:srgbClr val="FAF0E8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DEBATE HISTORIOGRÁFICO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80389" y="905347"/>
            <a:ext cx="4582484" cy="8352953"/>
            <a:chOff x="0" y="0"/>
            <a:chExt cx="1206909" cy="21999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6909" cy="2199955"/>
            </a:xfrm>
            <a:custGeom>
              <a:avLst/>
              <a:gdLst/>
              <a:ahLst/>
              <a:cxnLst/>
              <a:rect l="l" t="t" r="r" b="b"/>
              <a:pathLst>
                <a:path w="1206909" h="2199955">
                  <a:moveTo>
                    <a:pt x="0" y="0"/>
                  </a:moveTo>
                  <a:lnTo>
                    <a:pt x="1206909" y="0"/>
                  </a:lnTo>
                  <a:lnTo>
                    <a:pt x="1206909" y="2199955"/>
                  </a:lnTo>
                  <a:lnTo>
                    <a:pt x="0" y="2199955"/>
                  </a:lnTo>
                  <a:close/>
                </a:path>
              </a:pathLst>
            </a:custGeom>
            <a:solidFill>
              <a:srgbClr val="C5B6B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06909" cy="2238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905347"/>
            <a:ext cx="3280536" cy="8352953"/>
            <a:chOff x="0" y="0"/>
            <a:chExt cx="864010" cy="219995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64010" cy="2199955"/>
            </a:xfrm>
            <a:custGeom>
              <a:avLst/>
              <a:gdLst/>
              <a:ahLst/>
              <a:cxnLst/>
              <a:rect l="l" t="t" r="r" b="b"/>
              <a:pathLst>
                <a:path w="864010" h="2199955">
                  <a:moveTo>
                    <a:pt x="0" y="0"/>
                  </a:moveTo>
                  <a:lnTo>
                    <a:pt x="864010" y="0"/>
                  </a:lnTo>
                  <a:lnTo>
                    <a:pt x="864010" y="2199955"/>
                  </a:lnTo>
                  <a:lnTo>
                    <a:pt x="0" y="2199955"/>
                  </a:lnTo>
                  <a:close/>
                </a:path>
              </a:pathLst>
            </a:custGeom>
            <a:solidFill>
              <a:srgbClr val="0582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64010" cy="2238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309236" y="905347"/>
            <a:ext cx="4610766" cy="8352953"/>
            <a:chOff x="0" y="0"/>
            <a:chExt cx="1214358" cy="219995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4358" cy="2199955"/>
            </a:xfrm>
            <a:custGeom>
              <a:avLst/>
              <a:gdLst/>
              <a:ahLst/>
              <a:cxnLst/>
              <a:rect l="l" t="t" r="r" b="b"/>
              <a:pathLst>
                <a:path w="1214358" h="2199955">
                  <a:moveTo>
                    <a:pt x="0" y="0"/>
                  </a:moveTo>
                  <a:lnTo>
                    <a:pt x="1214358" y="0"/>
                  </a:lnTo>
                  <a:lnTo>
                    <a:pt x="1214358" y="2199955"/>
                  </a:lnTo>
                  <a:lnTo>
                    <a:pt x="0" y="2199955"/>
                  </a:lnTo>
                  <a:close/>
                </a:path>
              </a:pathLst>
            </a:custGeom>
            <a:solidFill>
              <a:srgbClr val="928D8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14358" cy="2238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309236" y="5836285"/>
            <a:ext cx="4610766" cy="3422015"/>
            <a:chOff x="0" y="0"/>
            <a:chExt cx="1214358" cy="9012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14358" cy="901271"/>
            </a:xfrm>
            <a:custGeom>
              <a:avLst/>
              <a:gdLst/>
              <a:ahLst/>
              <a:cxnLst/>
              <a:rect l="l" t="t" r="r" b="b"/>
              <a:pathLst>
                <a:path w="1214358" h="901271">
                  <a:moveTo>
                    <a:pt x="0" y="0"/>
                  </a:moveTo>
                  <a:lnTo>
                    <a:pt x="1214358" y="0"/>
                  </a:lnTo>
                  <a:lnTo>
                    <a:pt x="1214358" y="901271"/>
                  </a:lnTo>
                  <a:lnTo>
                    <a:pt x="0" y="901271"/>
                  </a:lnTo>
                  <a:close/>
                </a:path>
              </a:pathLst>
            </a:custGeom>
            <a:solidFill>
              <a:srgbClr val="05829A">
                <a:alpha val="6078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14358" cy="939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5836285"/>
            <a:ext cx="3280536" cy="3422015"/>
            <a:chOff x="0" y="0"/>
            <a:chExt cx="864010" cy="90127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64010" cy="901271"/>
            </a:xfrm>
            <a:custGeom>
              <a:avLst/>
              <a:gdLst/>
              <a:ahLst/>
              <a:cxnLst/>
              <a:rect l="l" t="t" r="r" b="b"/>
              <a:pathLst>
                <a:path w="864010" h="901271">
                  <a:moveTo>
                    <a:pt x="0" y="0"/>
                  </a:moveTo>
                  <a:lnTo>
                    <a:pt x="864010" y="0"/>
                  </a:lnTo>
                  <a:lnTo>
                    <a:pt x="864010" y="901271"/>
                  </a:lnTo>
                  <a:lnTo>
                    <a:pt x="0" y="901271"/>
                  </a:lnTo>
                  <a:close/>
                </a:path>
              </a:pathLst>
            </a:custGeom>
            <a:solidFill>
              <a:srgbClr val="FAF0E8">
                <a:alpha val="6078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64010" cy="939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249385" y="1314450"/>
            <a:ext cx="5785917" cy="2383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9045"/>
              </a:lnSpc>
            </a:pPr>
            <a:r>
              <a:rPr lang="en-US" sz="10050">
                <a:solidFill>
                  <a:srgbClr val="05829A"/>
                </a:solidFill>
                <a:latin typeface="Vidaloka"/>
                <a:ea typeface="Vidaloka"/>
                <a:cs typeface="Vidaloka"/>
                <a:sym typeface="Vidaloka"/>
              </a:rPr>
              <a:t>Legado e atualidade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19390" y="3296617"/>
            <a:ext cx="2499157" cy="655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27"/>
              </a:lnSpc>
            </a:pPr>
            <a:r>
              <a:rPr lang="en-US" sz="2696">
                <a:solidFill>
                  <a:srgbClr val="FAF0E8"/>
                </a:solidFill>
                <a:latin typeface="Coco Gothic"/>
                <a:ea typeface="Coco Gothic"/>
                <a:cs typeface="Coco Gothic"/>
                <a:sym typeface="Coco Gothic"/>
              </a:rPr>
              <a:t>DIREITO PENAL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19390" y="7241948"/>
            <a:ext cx="2499157" cy="655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27"/>
              </a:lnSpc>
            </a:pPr>
            <a:r>
              <a:rPr lang="en-US" sz="2696">
                <a:solidFill>
                  <a:srgbClr val="05829A"/>
                </a:solidFill>
                <a:latin typeface="Coco Gothic"/>
                <a:ea typeface="Coco Gothic"/>
                <a:cs typeface="Coco Gothic"/>
                <a:sym typeface="Coco Gothic"/>
              </a:rPr>
              <a:t>CONTROLE SOCIAL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80389" y="7241948"/>
            <a:ext cx="2499157" cy="655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27"/>
              </a:lnSpc>
            </a:pPr>
            <a:r>
              <a:rPr lang="en-US" sz="2696">
                <a:solidFill>
                  <a:srgbClr val="FAF0E8"/>
                </a:solidFill>
                <a:latin typeface="Coco Gothic"/>
                <a:ea typeface="Coco Gothic"/>
                <a:cs typeface="Coco Gothic"/>
                <a:sym typeface="Coco Gothic"/>
              </a:rPr>
              <a:t>DIREITOS HUMANOS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65041" y="3296617"/>
            <a:ext cx="2499157" cy="35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27"/>
              </a:lnSpc>
            </a:pPr>
            <a:r>
              <a:rPr lang="en-US" sz="2696">
                <a:solidFill>
                  <a:srgbClr val="FAF0E8"/>
                </a:solidFill>
                <a:latin typeface="Coco Gothic"/>
                <a:ea typeface="Coco Gothic"/>
                <a:cs typeface="Coco Gothic"/>
                <a:sym typeface="Coco Gothic"/>
              </a:rPr>
              <a:t>PRECONCEITO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74809" y="4279737"/>
            <a:ext cx="6260493" cy="501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04"/>
              </a:lnSpc>
            </a:pPr>
            <a:r>
              <a:rPr lang="en-US" sz="2360">
                <a:solidFill>
                  <a:srgbClr val="928D8D"/>
                </a:solidFill>
                <a:latin typeface="Open Sans"/>
                <a:ea typeface="Open Sans"/>
                <a:cs typeface="Open Sans"/>
                <a:sym typeface="Open Sans"/>
              </a:rPr>
              <a:t>A construção jurídica da bruxaria deixou marcas profundas no direito penal moderno. Os mecanismos de criminalização de comportamentos "desviantes", o uso de estereótipos para justificar perseguições e a fragilização de garantias processuais em nome da ordem social ecoam até hoje. A categoria jurídico-penal criada pelo Malleus revela como o direito pode ser instrumento de controle e exclusão — lição essencial para a reflexão sobre direitos humanos contemporâneos.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275070" y="8999810"/>
            <a:ext cx="5736580" cy="333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452"/>
              </a:lnSpc>
            </a:pPr>
            <a:r>
              <a:rPr lang="en-US" sz="2229" spc="414">
                <a:solidFill>
                  <a:srgbClr val="05829A"/>
                </a:solidFill>
                <a:latin typeface="Coco Gothic"/>
                <a:ea typeface="Coco Gothic"/>
                <a:cs typeface="Coco Gothic"/>
                <a:sym typeface="Coco Gothic"/>
              </a:rPr>
              <a:t>OBRIGADO! PERGUNTAS?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5507010" y="6775402"/>
            <a:ext cx="1504640" cy="1504640"/>
            <a:chOff x="0" y="0"/>
            <a:chExt cx="396284" cy="3962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6284" cy="396284"/>
            </a:xfrm>
            <a:custGeom>
              <a:avLst/>
              <a:gdLst/>
              <a:ahLst/>
              <a:cxnLst/>
              <a:rect l="l" t="t" r="r" b="b"/>
              <a:pathLst>
                <a:path w="396284" h="396284">
                  <a:moveTo>
                    <a:pt x="0" y="0"/>
                  </a:moveTo>
                  <a:lnTo>
                    <a:pt x="396284" y="0"/>
                  </a:lnTo>
                  <a:lnTo>
                    <a:pt x="396284" y="396284"/>
                  </a:lnTo>
                  <a:lnTo>
                    <a:pt x="0" y="396284"/>
                  </a:lnTo>
                  <a:close/>
                </a:path>
              </a:pathLst>
            </a:custGeom>
            <a:solidFill>
              <a:srgbClr val="0582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96284" cy="434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773317" y="7028134"/>
            <a:ext cx="903705" cy="1459603"/>
          </a:xfrm>
          <a:custGeom>
            <a:avLst/>
            <a:gdLst/>
            <a:ahLst/>
            <a:cxnLst/>
            <a:rect l="l" t="t" r="r" b="b"/>
            <a:pathLst>
              <a:path w="903705" h="1459603">
                <a:moveTo>
                  <a:pt x="0" y="0"/>
                </a:moveTo>
                <a:lnTo>
                  <a:pt x="903706" y="0"/>
                </a:lnTo>
                <a:lnTo>
                  <a:pt x="903706" y="1459603"/>
                </a:lnTo>
                <a:lnTo>
                  <a:pt x="0" y="14596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28700" y="1103322"/>
            <a:ext cx="1422125" cy="8229600"/>
          </a:xfrm>
          <a:custGeom>
            <a:avLst/>
            <a:gdLst/>
            <a:ahLst/>
            <a:cxnLst/>
            <a:rect l="l" t="t" r="r" b="b"/>
            <a:pathLst>
              <a:path w="1422125" h="8229600">
                <a:moveTo>
                  <a:pt x="0" y="0"/>
                </a:moveTo>
                <a:lnTo>
                  <a:pt x="1422125" y="0"/>
                </a:lnTo>
                <a:lnTo>
                  <a:pt x="142212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4924" r="-11492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2450825" y="1103322"/>
            <a:ext cx="1871492" cy="2408544"/>
            <a:chOff x="0" y="0"/>
            <a:chExt cx="492903" cy="634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2903" cy="634349"/>
            </a:xfrm>
            <a:custGeom>
              <a:avLst/>
              <a:gdLst/>
              <a:ahLst/>
              <a:cxnLst/>
              <a:rect l="l" t="t" r="r" b="b"/>
              <a:pathLst>
                <a:path w="492903" h="634349">
                  <a:moveTo>
                    <a:pt x="0" y="0"/>
                  </a:moveTo>
                  <a:lnTo>
                    <a:pt x="492903" y="0"/>
                  </a:lnTo>
                  <a:lnTo>
                    <a:pt x="492903" y="634349"/>
                  </a:lnTo>
                  <a:lnTo>
                    <a:pt x="0" y="634349"/>
                  </a:lnTo>
                  <a:close/>
                </a:path>
              </a:pathLst>
            </a:custGeom>
            <a:solidFill>
              <a:srgbClr val="C5B6B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92903" cy="6724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3511866"/>
            <a:ext cx="3293616" cy="5821056"/>
            <a:chOff x="0" y="0"/>
            <a:chExt cx="867454" cy="15331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67454" cy="1533118"/>
            </a:xfrm>
            <a:custGeom>
              <a:avLst/>
              <a:gdLst/>
              <a:ahLst/>
              <a:cxnLst/>
              <a:rect l="l" t="t" r="r" b="b"/>
              <a:pathLst>
                <a:path w="867454" h="1533118">
                  <a:moveTo>
                    <a:pt x="0" y="0"/>
                  </a:moveTo>
                  <a:lnTo>
                    <a:pt x="867454" y="0"/>
                  </a:lnTo>
                  <a:lnTo>
                    <a:pt x="867454" y="1533118"/>
                  </a:lnTo>
                  <a:lnTo>
                    <a:pt x="0" y="1533118"/>
                  </a:lnTo>
                  <a:close/>
                </a:path>
              </a:pathLst>
            </a:custGeom>
            <a:solidFill>
              <a:srgbClr val="C5B6B0">
                <a:alpha val="4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67454" cy="1571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852</Words>
  <Application>Microsoft Macintosh PowerPoint</Application>
  <PresentationFormat>Custom</PresentationFormat>
  <Paragraphs>58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Coco Gothic</vt:lpstr>
      <vt:lpstr>Vidaloka</vt:lpstr>
      <vt:lpstr>Coco Gothic Bold</vt:lpstr>
      <vt:lpstr>Open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Malleus Maleficarum: Construção Jurídico-Penal da Bruxaria</dc:title>
  <cp:lastModifiedBy>Ana Vitória Vanzin Mendes</cp:lastModifiedBy>
  <cp:revision>2</cp:revision>
  <dcterms:created xsi:type="dcterms:W3CDTF">2006-08-16T00:00:00Z</dcterms:created>
  <dcterms:modified xsi:type="dcterms:W3CDTF">2026-04-06T16:14:16Z</dcterms:modified>
  <dc:identifier>DAHGFXT9N50</dc:identifier>
</cp:coreProperties>
</file>