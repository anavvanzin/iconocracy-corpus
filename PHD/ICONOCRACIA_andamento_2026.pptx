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457200"/>
            <a:ext cx="2011680" cy="2011680"/>
          </a:xfrm>
          <a:prstGeom prst="ellipse">
            <a:avLst/>
          </a:prstGeom>
          <a:solidFill>
            <a:srgbClr val="C4973F">
              <a:alpha val="18000"/>
            </a:srgbClr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1463040"/>
            <a:ext cx="1280160" cy="1280160"/>
          </a:xfrm>
          <a:prstGeom prst="ellipse">
            <a:avLst/>
          </a:prstGeom>
          <a:solidFill>
            <a:srgbClr val="7A1E2E">
              <a:alpha val="25000"/>
            </a:srgbClr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40080"/>
            <a:ext cx="6858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ICONOCRACIA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Alegoria Feminina na História da Cultura Jurídica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Séculos XIX–XX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2560320" cy="36576"/>
          </a:xfrm>
          <a:prstGeom prst="rect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346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 de Orientação · PPGD/UFSC · Março 2026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Vanzin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E2461"/>
          </a:solidFill>
          <a:ln w="12700">
            <a:solidFill>
              <a:srgbClr val="1E24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32004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QUESTÃO CENTRAL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822960"/>
            <a:ext cx="3337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alegoria feminina da Justiça operou como tecnologia de poder na cultura jurídica ocidental, e de que modo esse regime visual sustentou a exclusão de mulheres reais do campo do direito?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60520" y="457200"/>
            <a:ext cx="475488" cy="475488"/>
          </a:xfrm>
          <a:prstGeom prst="ellipse">
            <a:avLst/>
          </a:prstGeom>
          <a:solidFill>
            <a:srgbClr val="1E2461"/>
          </a:solidFill>
          <a:ln w="12700">
            <a:solidFill>
              <a:srgbClr val="1E24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00600" y="4572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DIREITO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00600" y="8229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jurídica e seus regimes de visibilidade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60520" y="1920240"/>
            <a:ext cx="475488" cy="475488"/>
          </a:xfrm>
          <a:prstGeom prst="ellipse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1920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GÊNERO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228600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Sexual Visual e feminilidade de Estado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160520" y="3383280"/>
            <a:ext cx="475488" cy="475488"/>
          </a:xfrm>
          <a:prstGeom prst="ellipse">
            <a:avLst/>
          </a:prstGeom>
          <a:solidFill>
            <a:srgbClr val="4A5E2F"/>
          </a:solidFill>
          <a:ln w="12700">
            <a:solidFill>
              <a:srgbClr val="4A5E2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3383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VISUALIDADE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00600" y="3749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Iconocracia, Pathosformel e colonialidade do ver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da Tese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partes · 10 capítulos (caps. 2–10 + introdução e conclusão)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93392" cy="3840480"/>
          </a:xfrm>
          <a:prstGeom prst="rect">
            <a:avLst/>
          </a:prstGeom>
          <a:solidFill>
            <a:srgbClr val="1E2461"/>
          </a:solidFill>
          <a:ln w="12700">
            <a:solidFill>
              <a:srgbClr val="1E24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993392" cy="118872"/>
          </a:xfrm>
          <a:prstGeom prst="rect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0700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Moldura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Teórica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242316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Caps. 2–4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788920"/>
            <a:ext cx="1536192" cy="27432"/>
          </a:xfrm>
          <a:prstGeom prst="rect">
            <a:avLst/>
          </a:prstGeom>
          <a:solidFill>
            <a:srgbClr val="F5EDD8">
              <a:alpha val="35000"/>
            </a:srgbClr>
          </a:solidFill>
          <a:ln w="12700">
            <a:solidFill>
              <a:srgbClr val="F5ED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2907792"/>
            <a:ext cx="1773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Sexual Visual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Iconocracia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Colonialidade do Ver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50592" y="1005840"/>
            <a:ext cx="1993392" cy="3840480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005840"/>
            <a:ext cx="1993392" cy="118872"/>
          </a:xfrm>
          <a:prstGeom prst="rect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20700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50592" y="155448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Corpus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450592" y="242316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Caps. 5–6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79192" y="2788920"/>
            <a:ext cx="1536192" cy="27432"/>
          </a:xfrm>
          <a:prstGeom prst="rect">
            <a:avLst/>
          </a:prstGeom>
          <a:solidFill>
            <a:srgbClr val="F5EDD8">
              <a:alpha val="35000"/>
            </a:srgbClr>
          </a:solidFill>
          <a:ln w="12700">
            <a:solidFill>
              <a:srgbClr val="F5ED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2907792"/>
            <a:ext cx="1773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Iconometria Jurídica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 Mistos Sequenciais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26864" y="1005840"/>
            <a:ext cx="1993392" cy="3840480"/>
          </a:xfrm>
          <a:prstGeom prst="rect">
            <a:avLst/>
          </a:prstGeom>
          <a:solidFill>
            <a:srgbClr val="3A5E2A"/>
          </a:solidFill>
          <a:ln w="12700">
            <a:solidFill>
              <a:srgbClr val="3A5E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1005840"/>
            <a:ext cx="1993392" cy="118872"/>
          </a:xfrm>
          <a:prstGeom prst="rect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120700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III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26864" y="155448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26864" y="242316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Caps. 7–8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55464" y="2788920"/>
            <a:ext cx="1536192" cy="27432"/>
          </a:xfrm>
          <a:prstGeom prst="rect">
            <a:avLst/>
          </a:prstGeom>
          <a:solidFill>
            <a:srgbClr val="F5EDD8">
              <a:alpha val="35000"/>
            </a:srgbClr>
          </a:solidFill>
          <a:ln w="12700">
            <a:solidFill>
              <a:srgbClr val="F5ED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2907792"/>
            <a:ext cx="1773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Quantitativa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(Kruskal-Wallis, RLO)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Paradigmáticos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03136" y="1005840"/>
            <a:ext cx="1993392" cy="3840480"/>
          </a:xfrm>
          <a:prstGeom prst="rect">
            <a:avLst/>
          </a:prstGeom>
          <a:solidFill>
            <a:srgbClr val="4A3520"/>
          </a:solidFill>
          <a:ln w="12700">
            <a:solidFill>
              <a:srgbClr val="4A35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03136" y="1005840"/>
            <a:ext cx="1993392" cy="118872"/>
          </a:xfrm>
          <a:prstGeom prst="rect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03136" y="120700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IV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03136" y="1554480"/>
            <a:ext cx="1993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Atlas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Iconocrático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03136" y="2423160"/>
            <a:ext cx="1993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Caps. 9–10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31736" y="2788920"/>
            <a:ext cx="1536192" cy="27432"/>
          </a:xfrm>
          <a:prstGeom prst="rect">
            <a:avLst/>
          </a:prstGeom>
          <a:solidFill>
            <a:srgbClr val="F5EDD8">
              <a:alpha val="35000"/>
            </a:srgbClr>
          </a:solidFill>
          <a:ln w="12700">
            <a:solidFill>
              <a:srgbClr val="F5ED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12864" y="2907792"/>
            <a:ext cx="1773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Painéis — estilo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Mnemosyne de Warburg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Conceitos Operativos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Glossário consolidado — março 2026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60520" cy="384048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ORIGINAIS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347472" cy="347472"/>
          </a:xfrm>
          <a:prstGeom prst="ellipse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508760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Contrato Sexual Visual (CSV)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1783080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Pateman 1988 + Goodrich 2013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212848"/>
            <a:ext cx="347472" cy="347472"/>
          </a:xfrm>
          <a:prstGeom prst="ellipse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212848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Feminilidade de Estado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2487168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Mondzain 2002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916936"/>
            <a:ext cx="347472" cy="347472"/>
          </a:xfrm>
          <a:prstGeom prst="ellipse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916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2916936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 Iconocrático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77240" y="3191256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Tipologia original (Fund. / Norm. / Milit.)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621024"/>
            <a:ext cx="347472" cy="347472"/>
          </a:xfrm>
          <a:prstGeom prst="ellipse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621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621024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Purificação Clássica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77240" y="389534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indicadores operacionalizados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4325112"/>
            <a:ext cx="347472" cy="347472"/>
          </a:xfrm>
          <a:prstGeom prst="ellipse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325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" y="4325112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Endurecimento Militar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7240" y="4599432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 da purificação clássica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1005840"/>
            <a:ext cx="4160520" cy="384048"/>
          </a:xfrm>
          <a:prstGeom prst="rect">
            <a:avLst/>
          </a:prstGeom>
          <a:solidFill>
            <a:srgbClr val="1E2461"/>
          </a:solidFill>
          <a:ln w="12700">
            <a:solidFill>
              <a:srgbClr val="1E24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00584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CONCEITOS MOBILIZADOS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1508760"/>
            <a:ext cx="347472" cy="347472"/>
          </a:xfrm>
          <a:prstGeom prst="ellipse">
            <a:avLst/>
          </a:prstGeom>
          <a:solidFill>
            <a:srgbClr val="1E2461"/>
          </a:solidFill>
          <a:ln w="12700">
            <a:solidFill>
              <a:srgbClr val="1E24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1508760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Visiocracia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212080" y="1783080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Goodrich / Legendre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2212848"/>
            <a:ext cx="347472" cy="347472"/>
          </a:xfrm>
          <a:prstGeom prst="ellipse">
            <a:avLst/>
          </a:prstGeom>
          <a:solidFill>
            <a:srgbClr val="1E2461"/>
          </a:solidFill>
          <a:ln w="12700">
            <a:solidFill>
              <a:srgbClr val="1E24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2212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12080" y="2212848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Iconocracia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212080" y="2487168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Mondzain (querela iconoclasta)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2916936"/>
            <a:ext cx="347472" cy="347472"/>
          </a:xfrm>
          <a:prstGeom prst="ellipse">
            <a:avLst/>
          </a:prstGeom>
          <a:solidFill>
            <a:srgbClr val="1E2461"/>
          </a:solidFill>
          <a:ln w="12700">
            <a:solidFill>
              <a:srgbClr val="1E24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916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2916936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Pathosformel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212080" y="3191256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Warburg — Bilderatlas Mnemosyne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621024"/>
            <a:ext cx="347472" cy="347472"/>
          </a:xfrm>
          <a:prstGeom prst="ellipse">
            <a:avLst/>
          </a:prstGeom>
          <a:solidFill>
            <a:srgbClr val="1E2461"/>
          </a:solidFill>
          <a:ln w="12700">
            <a:solidFill>
              <a:srgbClr val="1E24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3621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12080" y="3621024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Zwischenraum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212080" y="3895344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Warburg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4325112"/>
            <a:ext cx="347472" cy="347472"/>
          </a:xfrm>
          <a:prstGeom prst="ellipse">
            <a:avLst/>
          </a:prstGeom>
          <a:solidFill>
            <a:srgbClr val="1E2461"/>
          </a:solidFill>
          <a:ln w="12700">
            <a:solidFill>
              <a:srgbClr val="1E24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4325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212080" y="4325112"/>
            <a:ext cx="3685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Colonialidade do Ver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5212080" y="4599432"/>
            <a:ext cx="3685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Quijano + Mirzoeff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Método: Iconometria Jurídica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 de métodos mistos sequenciais (QUAN → QUAL)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4069080" cy="384048"/>
          </a:xfrm>
          <a:prstGeom prst="rect">
            <a:avLst/>
          </a:prstGeom>
          <a:solidFill>
            <a:srgbClr val="1E2461"/>
          </a:solidFill>
          <a:ln w="12700">
            <a:solidFill>
              <a:srgbClr val="1E24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7899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QUANTITATIVA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38404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 iconográfico sistemático (corpus de imagens)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de 10 indicadores de Purificação Clássica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Codificação em escala Likert ordinal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Kruskal-Wallis: diferenças entre regimes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Logística Ordinal (RLO): variáveis preditoras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00600" y="1078992"/>
            <a:ext cx="4069080" cy="384048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07899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QUALITATIVA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0" y="1572768"/>
            <a:ext cx="38404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de casos paradigmáticos por regime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iconológica: 3 níveis (Panofsky)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Pathosformel e Zwischenraum (Warburg)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do Contrato Sexual Visual (Goodrich)</a:t>
            </a:r>
            <a:endParaRPr lang="en-US" sz="1250" dirty="0"/>
          </a:p>
          <a:p>
            <a:pPr algn="l"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Colonialidade do Ver (Quijano / Mirzoeff)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 e Fontes Iconográficas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2514600" cy="1280160"/>
          </a:xfrm>
          <a:prstGeom prst="rect">
            <a:avLst/>
          </a:prstGeom>
          <a:solidFill>
            <a:srgbClr val="1E2461"/>
          </a:solidFill>
          <a:ln w="12700">
            <a:solidFill>
              <a:srgbClr val="1E24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868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49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XIX–XX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Séculos analisados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822960"/>
            <a:ext cx="2514600" cy="1280160"/>
          </a:xfrm>
          <a:prstGeom prst="rect">
            <a:avLst/>
          </a:prstGeom>
          <a:solidFill>
            <a:srgbClr val="1E2461"/>
          </a:solidFill>
          <a:ln w="12700">
            <a:solidFill>
              <a:srgbClr val="1E24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868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49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91840" y="150876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Regimes Iconocráticos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822960"/>
            <a:ext cx="2514600" cy="1280160"/>
          </a:xfrm>
          <a:prstGeom prst="rect">
            <a:avLst/>
          </a:prstGeom>
          <a:solidFill>
            <a:srgbClr val="1E2461"/>
          </a:solidFill>
          <a:ln w="12700">
            <a:solidFill>
              <a:srgbClr val="1E24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8686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49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126480" y="150876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codificação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42316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423160"/>
            <a:ext cx="2651760" cy="118872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 Fundacional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081528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Alegorias clássicas da Iustitia: frontispícios de códigos, selos de tribunais e documentos de Estado — séc. XIX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46120" y="242316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46120" y="2423160"/>
            <a:ext cx="2651760" cy="118872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 Normativo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3081528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Ilustrações em periódicos jurídicos, manuais e publicações oficiais do Estado Liberal — sécs. XIX–XX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242316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2423160"/>
            <a:ext cx="2651760" cy="118872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 Militar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3081528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Iconografia jurídica em contextos autoritários e de estado de exceção — séc. XX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— Caps. 7 e 8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3977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04672"/>
            <a:ext cx="3977640" cy="384048"/>
          </a:xfrm>
          <a:prstGeom prst="rect">
            <a:avLst/>
          </a:prstGeom>
          <a:solidFill>
            <a:srgbClr val="1E2461"/>
          </a:solidFill>
          <a:ln w="12700">
            <a:solidFill>
              <a:srgbClr val="1E24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80467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7 — ANÁLISE QUANTITATIVA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1298448"/>
            <a:ext cx="3703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do corpus por regime iconocrático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Kruskal-Wallis: diferenças nos indicadores de Purificação Clássica entre regimes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Logística Ordinal: preditores do grau de Endurecimento Militar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de calor iconométrico por período e contexto geopolítico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800600" y="804672"/>
            <a:ext cx="3977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5C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00600" y="804672"/>
            <a:ext cx="3977640" cy="384048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804672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 8 — ANÁLISE QUALITATIVA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965192" y="1298448"/>
            <a:ext cx="37033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paradigmáticos selecionados por regime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iconológica em três níveis (Panofsky): pré-iconográfico, iconográfico, iconológico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Pathosformeln e Zwischenräume identificados no corpus</a:t>
            </a:r>
            <a:endParaRPr lang="en-US" sz="12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do CSV e da Colonialidade do Ver nos casos selecionados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C497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Atlas Iconocrático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Caps. 9–10 · 8 painéis · inspirados no Bilderatlas Mnemosyne de Aby Warburg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1371600" cy="36576"/>
          </a:xfrm>
          <a:prstGeom prst="rect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170432"/>
            <a:ext cx="1938528" cy="1600200"/>
          </a:xfrm>
          <a:prstGeom prst="rect">
            <a:avLst/>
          </a:prstGeom>
          <a:solidFill>
            <a:srgbClr val="2C1E4A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8016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I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64592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Corpus &amp; Método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32888" y="1170432"/>
            <a:ext cx="1938528" cy="1600200"/>
          </a:xfrm>
          <a:prstGeom prst="rect">
            <a:avLst/>
          </a:prstGeom>
          <a:solidFill>
            <a:srgbClr val="2C1E4A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32888" y="128016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II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24328" y="164592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 Fundacional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54296" y="1170432"/>
            <a:ext cx="1938528" cy="1600200"/>
          </a:xfrm>
          <a:prstGeom prst="rect">
            <a:avLst/>
          </a:prstGeom>
          <a:solidFill>
            <a:srgbClr val="2A1F35"/>
          </a:solidFill>
          <a:ln w="6350">
            <a:solidFill>
              <a:srgbClr val="4A3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128016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III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45736" y="164592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5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(em definição)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75704" y="1170432"/>
            <a:ext cx="1938528" cy="1600200"/>
          </a:xfrm>
          <a:prstGeom prst="rect">
            <a:avLst/>
          </a:prstGeom>
          <a:solidFill>
            <a:srgbClr val="2C1E4A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75704" y="128016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IV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67144" y="164592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 Normativo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11480" y="3090672"/>
            <a:ext cx="1938528" cy="1600200"/>
          </a:xfrm>
          <a:prstGeom prst="rect">
            <a:avLst/>
          </a:prstGeom>
          <a:solidFill>
            <a:srgbClr val="2C1E4A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2004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V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56616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Purificação Clássica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32888" y="3090672"/>
            <a:ext cx="1938528" cy="1600200"/>
          </a:xfrm>
          <a:prstGeom prst="rect">
            <a:avLst/>
          </a:prstGeom>
          <a:solidFill>
            <a:srgbClr val="2C1E4A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32888" y="32004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VI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24328" y="356616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Endurecimento Militar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54296" y="3090672"/>
            <a:ext cx="1938528" cy="1600200"/>
          </a:xfrm>
          <a:prstGeom prst="rect">
            <a:avLst/>
          </a:prstGeom>
          <a:solidFill>
            <a:srgbClr val="2A1F35"/>
          </a:solidFill>
          <a:ln w="6350">
            <a:solidFill>
              <a:srgbClr val="4A3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54296" y="32004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B5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VII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45736" y="356616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5B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 definir)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75704" y="3090672"/>
            <a:ext cx="1938528" cy="1600200"/>
          </a:xfrm>
          <a:prstGeom prst="rect">
            <a:avLst/>
          </a:prstGeom>
          <a:solidFill>
            <a:srgbClr val="2C1E4A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75704" y="3200400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49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VIII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67144" y="356616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Iconocrática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4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Atual da Pesquisa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Glossário — 10 conceitos operativos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19786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 (marco 2026)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74920" y="960120"/>
            <a:ext cx="3657600" cy="329184"/>
          </a:xfrm>
          <a:prstGeom prst="rect">
            <a:avLst/>
          </a:prstGeom>
          <a:solidFill>
            <a:srgbClr val="E0D5C0"/>
          </a:solidFill>
          <a:ln w="12700">
            <a:solidFill>
              <a:srgbClr val="E0D5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74920" y="960120"/>
            <a:ext cx="3657600" cy="329184"/>
          </a:xfrm>
          <a:prstGeom prst="rect">
            <a:avLst/>
          </a:prstGeom>
          <a:solidFill>
            <a:srgbClr val="2C7A2A"/>
          </a:solidFill>
          <a:ln w="12700">
            <a:solidFill>
              <a:srgbClr val="2C7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0" y="96012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 — Moldura Teórica (caps. 2–4)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90195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escrita / revisão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74920" y="1664208"/>
            <a:ext cx="3657600" cy="329184"/>
          </a:xfrm>
          <a:prstGeom prst="rect">
            <a:avLst/>
          </a:prstGeom>
          <a:solidFill>
            <a:srgbClr val="E0D5C0"/>
          </a:solidFill>
          <a:ln w="12700">
            <a:solidFill>
              <a:srgbClr val="E0D5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74920" y="1664208"/>
            <a:ext cx="2743200" cy="329184"/>
          </a:xfrm>
          <a:prstGeom prst="rect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0" y="1664208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27685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 — Método e Corpus (caps. 5–6)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260604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escrita / revisão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74920" y="2368296"/>
            <a:ext cx="3657600" cy="329184"/>
          </a:xfrm>
          <a:prstGeom prst="rect">
            <a:avLst/>
          </a:prstGeom>
          <a:solidFill>
            <a:srgbClr val="E0D5C0"/>
          </a:solidFill>
          <a:ln w="12700">
            <a:solidFill>
              <a:srgbClr val="E0D5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74920" y="2368296"/>
            <a:ext cx="2377440" cy="329184"/>
          </a:xfrm>
          <a:prstGeom prst="rect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2368296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98094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III — Análise Quant. (cap. 7)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31012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desenvolvimento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74920" y="3072384"/>
            <a:ext cx="3657600" cy="329184"/>
          </a:xfrm>
          <a:prstGeom prst="rect">
            <a:avLst/>
          </a:prstGeom>
          <a:solidFill>
            <a:srgbClr val="E0D5C0"/>
          </a:solidFill>
          <a:ln w="12700">
            <a:solidFill>
              <a:srgbClr val="E0D5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74920" y="3072384"/>
            <a:ext cx="1463040" cy="329184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0" y="3072384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68503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III — Análise Qual. (cap. 8)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01421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74920" y="3776472"/>
            <a:ext cx="3657600" cy="329184"/>
          </a:xfrm>
          <a:prstGeom prst="rect">
            <a:avLst/>
          </a:prstGeom>
          <a:solidFill>
            <a:srgbClr val="E0D5C0"/>
          </a:solidFill>
          <a:ln w="12700">
            <a:solidFill>
              <a:srgbClr val="E0D5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74920" y="3776472"/>
            <a:ext cx="731520" cy="329184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0" y="3776472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3891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IV — Atlas Iconocrático (caps. 9–10)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71830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planejamento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74920" y="4480560"/>
            <a:ext cx="3657600" cy="329184"/>
          </a:xfrm>
          <a:prstGeom prst="rect">
            <a:avLst/>
          </a:prstGeom>
          <a:solidFill>
            <a:srgbClr val="E0D5C0"/>
          </a:solidFill>
          <a:ln w="12700">
            <a:solidFill>
              <a:srgbClr val="E0D5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74920" y="4480560"/>
            <a:ext cx="914400" cy="329184"/>
          </a:xfrm>
          <a:prstGeom prst="rect">
            <a:avLst/>
          </a:prstGeom>
          <a:solidFill>
            <a:srgbClr val="4A5E2F"/>
          </a:solidFill>
          <a:ln w="12700">
            <a:solidFill>
              <a:srgbClr val="4A5E2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0" y="4480560"/>
            <a:ext cx="320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4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7A1E2E"/>
          </a:solidFill>
          <a:ln w="12700">
            <a:solidFill>
              <a:srgbClr val="7A1E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D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Questões para Discussão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38912" cy="438912"/>
          </a:xfrm>
          <a:prstGeom prst="ellipse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8992" y="914400"/>
            <a:ext cx="7635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operacionalização dos 10 indicadores de Purificação Clássica está suficientemente fundamentada para resistir à crítica metodológica?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438912" cy="438912"/>
          </a:xfrm>
          <a:prstGeom prst="ellipse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74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78992" y="1874520"/>
            <a:ext cx="7635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Painel III do Atlas está ausente do sumário (salta de II para IV). Qual a estratégia para preencher essa lacuna estrutural?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34640"/>
            <a:ext cx="438912" cy="438912"/>
          </a:xfrm>
          <a:prstGeom prst="ellipse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34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78992" y="2834640"/>
            <a:ext cx="7635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 a estratégia mais eficaz para delimitar o corpus diante da amplitude temporal e geopolítica da pesquisa?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438912" cy="438912"/>
          </a:xfrm>
          <a:prstGeom prst="ellipse">
            <a:avLst/>
          </a:prstGeom>
          <a:solidFill>
            <a:srgbClr val="C4973F"/>
          </a:solidFill>
          <a:ln w="12700">
            <a:solidFill>
              <a:srgbClr val="C497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94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4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78992" y="3794760"/>
            <a:ext cx="7635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Painel VII está marcado como '(a definir)'. Há urgência em defini-lo antes de avançar na redação dos caps. 9–10?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5E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Vanzin · PPGD/UFSC · ana.vanzin@posgrad.ufsc.br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ICONOCRACIA — Andamento da Tese</dc:title>
  <dc:subject>PptxGenJS Presentation</dc:subject>
  <dc:creator>Ana Vanzin</dc:creator>
  <cp:lastModifiedBy>Ana Vanzin</cp:lastModifiedBy>
  <cp:revision>1</cp:revision>
  <dcterms:created xsi:type="dcterms:W3CDTF">2026-03-23T02:26:20Z</dcterms:created>
  <dcterms:modified xsi:type="dcterms:W3CDTF">2026-03-23T02:26:20Z</dcterms:modified>
</cp:coreProperties>
</file>